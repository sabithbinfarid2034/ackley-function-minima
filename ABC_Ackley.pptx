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12192000"/>
  <p:embeddedFontLst>
    <p:embeddedFont>
      <p:font typeface="Caveat"/>
      <p:regular r:id="rId20"/>
      <p:bold r:id="rId21"/>
    </p:embeddedFont>
    <p:embeddedFont>
      <p:font typeface="Lora"/>
      <p:regular r:id="rId22"/>
      <p:bold r:id="rId23"/>
      <p:italic r:id="rId24"/>
      <p:boldItalic r:id="rId25"/>
    </p:embeddedFont>
    <p:embeddedFont>
      <p:font typeface="Pacifico"/>
      <p:regular r:id="rId26"/>
    </p:embeddedFont>
    <p:embeddedFont>
      <p:font typeface="Public Sans"/>
      <p:regular r:id="rId27"/>
      <p:bold r:id="rId28"/>
      <p:italic r:id="rId29"/>
      <p:boldItalic r:id="rId30"/>
    </p:embeddedFont>
    <p:embeddedFont>
      <p:font typeface="Oswald"/>
      <p:regular r:id="rId31"/>
      <p:bold r:id="rId32"/>
    </p:embeddedFont>
    <p:embeddedFont>
      <p:font typeface="Caveat SemiBol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iqIdvzxpUwhRJFA9lZzISsHCzY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74C288-C6E3-4506-9848-9D43E5F9F4BF}">
  <a:tblStyle styleId="{8C74C288-C6E3-4506-9848-9D43E5F9F4B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Caveat-regular.fntdata"/><Relationship Id="rId22" Type="http://schemas.openxmlformats.org/officeDocument/2006/relationships/font" Target="fonts/Lora-regular.fntdata"/><Relationship Id="rId21" Type="http://schemas.openxmlformats.org/officeDocument/2006/relationships/font" Target="fonts/Caveat-bold.fntdata"/><Relationship Id="rId24" Type="http://schemas.openxmlformats.org/officeDocument/2006/relationships/font" Target="fonts/Lora-italic.fntdata"/><Relationship Id="rId23" Type="http://schemas.openxmlformats.org/officeDocument/2006/relationships/font" Target="fonts/Lor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acifico-regular.fntdata"/><Relationship Id="rId25" Type="http://schemas.openxmlformats.org/officeDocument/2006/relationships/font" Target="fonts/Lora-boldItalic.fntdata"/><Relationship Id="rId28" Type="http://schemas.openxmlformats.org/officeDocument/2006/relationships/font" Target="fonts/PublicSans-bold.fntdata"/><Relationship Id="rId27" Type="http://schemas.openxmlformats.org/officeDocument/2006/relationships/font" Target="fonts/Public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ublic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regular.fntdata"/><Relationship Id="rId30" Type="http://schemas.openxmlformats.org/officeDocument/2006/relationships/font" Target="fonts/PublicSans-boldItalic.fntdata"/><Relationship Id="rId11" Type="http://schemas.openxmlformats.org/officeDocument/2006/relationships/slide" Target="slides/slide6.xml"/><Relationship Id="rId33" Type="http://schemas.openxmlformats.org/officeDocument/2006/relationships/font" Target="fonts/CaveatSemiBold-regular.fntdata"/><Relationship Id="rId10" Type="http://schemas.openxmlformats.org/officeDocument/2006/relationships/slide" Target="slides/slide5.xml"/><Relationship Id="rId32" Type="http://schemas.openxmlformats.org/officeDocument/2006/relationships/font" Target="fonts/Oswald-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CaveatSemiBold-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1pPr>
            <a:lvl2pPr lvl="1"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2pPr>
            <a:lvl3pPr lvl="2"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3pPr>
            <a:lvl4pPr lvl="3"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4pPr>
            <a:lvl5pPr lvl="4"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5pPr>
            <a:lvl6pPr lvl="5"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6pPr>
            <a:lvl7pPr lvl="6"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7pPr>
            <a:lvl8pPr lvl="7"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8pPr>
            <a:lvl9pPr lvl="8"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1pPr>
            <a:lvl2pPr lvl="1"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2pPr>
            <a:lvl3pPr lvl="2"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3pPr>
            <a:lvl4pPr lvl="3"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4pPr>
            <a:lvl5pPr lvl="4"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5pPr>
            <a:lvl6pPr lvl="5"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6pPr>
            <a:lvl7pPr lvl="6"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7pPr>
            <a:lvl8pPr lvl="7"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8pPr>
            <a:lvl9pPr lvl="8"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1pPr>
            <a:lvl2pPr indent="-228600" lvl="1" marL="9144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2pPr>
            <a:lvl3pPr indent="-228600" lvl="2" marL="13716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3pPr>
            <a:lvl4pPr indent="-228600" lvl="3" marL="18288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4pPr>
            <a:lvl5pPr indent="-228600" lvl="4" marL="22860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5pPr>
            <a:lvl6pPr indent="-228600" lvl="5" marL="27432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6pPr>
            <a:lvl7pPr indent="-228600" lvl="6" marL="32004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7pPr>
            <a:lvl8pPr indent="-228600" lvl="7" marL="36576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8pPr>
            <a:lvl9pPr indent="-228600" lvl="8" marL="411480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Public Sans"/>
                <a:ea typeface="Public Sans"/>
                <a:cs typeface="Public Sans"/>
                <a:sym typeface="Public Sans"/>
              </a:defRPr>
            </a:lvl1pPr>
            <a:lvl2pPr lvl="1"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2pPr>
            <a:lvl3pPr lvl="2"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3pPr>
            <a:lvl4pPr lvl="3"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4pPr>
            <a:lvl5pPr lvl="4"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5pPr>
            <a:lvl6pPr lvl="5"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6pPr>
            <a:lvl7pPr lvl="6"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7pPr>
            <a:lvl8pPr lvl="7"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8pPr>
            <a:lvl9pPr lvl="8" marR="0" rtl="0" algn="l">
              <a:spcBef>
                <a:spcPts val="0"/>
              </a:spcBef>
              <a:spcAft>
                <a:spcPts val="0"/>
              </a:spcAft>
              <a:buSzPts val="1400"/>
              <a:buNone/>
              <a:defRPr b="0" i="0" sz="1800" u="none" cap="none" strike="noStrike">
                <a:solidFill>
                  <a:schemeClr val="dk1"/>
                </a:solidFill>
                <a:latin typeface="Public Sans"/>
                <a:ea typeface="Public Sans"/>
                <a:cs typeface="Public Sans"/>
                <a:sym typeface="Public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Public Sans"/>
                <a:ea typeface="Public Sans"/>
                <a:cs typeface="Public Sans"/>
                <a:sym typeface="Public Sans"/>
              </a:rPr>
              <a:t>‹#›</a:t>
            </a:fld>
            <a:endParaRPr b="0" i="0" sz="1200" u="none" cap="none" strike="noStrike">
              <a:solidFill>
                <a:schemeClr val="dk1"/>
              </a:solidFill>
              <a:latin typeface="Public Sans"/>
              <a:ea typeface="Public Sans"/>
              <a:cs typeface="Public Sans"/>
              <a:sym typeface="Public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group and the task: we use the Artificial Bee Colony (ABC) algorithm to find the global minimum of the 2D Ackley function. About 8 minutes in total.</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Ackley function is the fitness function. Recommended parameters a=20, b=0.2, c=2π. The global minimum is 0 at (0,0), and the search domain is -5 to 5 for both variables. The surface is full of local minima, so a method that only goes downhill gets stuck.</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ABC was defined by Karaboga in 2005, inspired by how honey bees forage. A swarm-based metaheuristic with three kinds of bees. In our problem a food source is a point [x1, x2] and the nectar quality is its fitness from the Ackley function.</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flow from the lecture slides. Step 1 sets parameters. Step 2 creates the initial food sources and evaluates them. Step 3 is the loop: employed bees, onlooker bees, scout bees, then memorize the best solution. Step 4 stops. The next slides go through each step.</a:t>
            </a:r>
            <a:endParaRPr/>
          </a:p>
        </p:txBody>
      </p:sp>
      <p:sp>
        <p:nvSpPr>
          <p:cNvPr id="69" name="Google Shape;6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Control parameters from the lecture: swarm size, employed bees at 50 percent, onlookers at 50 percent, scouts, limit, and dimension. We use a swarm of 100, so 50 employed bees and 50 onlookers, one scout, limit 20, two dimensions. Each of the 50 food sources starts at a random point in the range using the initialization equation, and its fitness is calculated.</a:t>
            </a:r>
            <a:endParaRPr/>
          </a:p>
        </p:txBody>
      </p:sp>
      <p:sp>
        <p:nvSpPr>
          <p:cNvPr id="91" name="Google Shape;9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Employed bees: each bee evolves its own solution into a neighbour v by changing one dimension j using a random partner k and a random factor phi between minus one and one, then keeps whichever of x and v has the better value. Onlookers: each source gets a probability proportional to its fitness, and a roulette wheel decides which source each onlooker visits. Because we minimize, fitness is 1 over 1 plus f, so lower Ackley values get bigger slices. The chosen source is evolved the same way as in the employed phase.</a:t>
            </a:r>
            <a:endParaRPr/>
          </a:p>
        </p:txBody>
      </p:sp>
      <p:sp>
        <p:nvSpPr>
          <p:cNvPr id="105" name="Google Shape;10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Scout phase: if a position cannot be improved for the limit number of cycles, here 20, that food source is abandoned and replaced by a random one using the same equation as initialization. This keeps exploring the search space. After each cycle the best solution is memorized. We stop after 100 cycles or when the best value is within 1e-6 of zero.</a:t>
            </a:r>
            <a:endParaRPr/>
          </a:p>
        </p:txBody>
      </p:sp>
      <p:sp>
        <p:nvSpPr>
          <p:cNvPr id="122" name="Google Shape;1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dot is one food source on the Ackley surface; the orange diamond is the best one and the white star is the true minimum. At cycle 0 the sources are random. By cycle 8 they gather near the middle, and by cycle 25 the best value is about 0.00013. The generate_detailed_report script saves one plot and one table for every cycle if the instructor wants to see any single iteration.</a:t>
            </a:r>
            <a:endParaRPr/>
          </a:p>
        </p:txBody>
      </p:sp>
      <p:sp>
        <p:nvSpPr>
          <p:cNvPr id="139" name="Google Shape;1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4fd6c64567bb97b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h4fd6c64567bb97b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dot is one food source on the Ackley surface; the orange diamond is the best one and the white star is the true minimum. At cycle 0 the sources are random. By cycle 8 they gather near the middle, and by cycle 25 the best value is about 0.00013. The generate_detailed_report script saves one plot and one table for every cycle if the instructor wants to see any single iteration.</a:t>
            </a:r>
            <a:endParaRPr/>
          </a:p>
        </p:txBody>
      </p:sp>
      <p:sp>
        <p:nvSpPr>
          <p:cNvPr id="154" name="Google Shape;154;h4fd6c64567bb97b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the recommended settings and seed 42, the best value falls from 4.3 in the first cycle to below 1e-6 at cycle 52, and the best solution is x1 and x2 equal to zero. The mean value of the food sources also falls, which shows the whole swarm is converging, not just the best bee.</a:t>
            </a:r>
            <a:endParaRPr/>
          </a:p>
        </p:txBody>
      </p:sp>
      <p:sp>
        <p:nvSpPr>
          <p:cNvPr id="164" name="Google Shape;16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assignment asks for a classical algorithm and for runs with about 20 and 25 iterations. ABC at 20 cycles is already at 0.0005 and at 25 cycles at 0.00013. The classical Nelder-Mead method started at (4, -4) gets stuck at about 11 because it only follows the local slope.</a:t>
            </a:r>
            <a:endParaRPr/>
          </a:p>
        </p:txBody>
      </p:sp>
      <p:sp>
        <p:nvSpPr>
          <p:cNvPr id="180" name="Google Shape;1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check that the result is not luck, we ran ABC with 30 different random seeds and the same settings. All 30 runs reached the stop threshold within 32 to 52 cycles, and the worst final value was below 1e-6.</a:t>
            </a:r>
            <a:endParaRPr/>
          </a:p>
        </p:txBody>
      </p:sp>
      <p:sp>
        <p:nvSpPr>
          <p:cNvPr id="191" name="Google Shape;19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ABC found the global minimum of the Ackley function with a swarm of 50 employed and 50 onlooker bees. It has few parameters, converges quickly and balances exploration through scouts with exploitation through employed and onlooker bees. A limitation from the lecture is that the search space depends on the initial solutions. Applications include mechanical design such as welded beams and coil springs, digital filters, fuzzy control, clustering, and robot control. Thank you, questions?</a:t>
            </a:r>
            <a:endParaRPr/>
          </a:p>
        </p:txBody>
      </p:sp>
      <p:sp>
        <p:nvSpPr>
          <p:cNvPr id="207" name="Google Shape;20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4fd6c64567bb97b5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h4fd6c64567bb97b5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ABC found the global minimum of the Ackley function with a swarm of 50 employed and 50 onlooker bees. It has few parameters, converges quickly and balances exploration through scouts with exploitation through employed and onlooker bees. A limitation from the lecture is that the search space depends on the initial solutions. Applications include mechanical design such as welded beams and coil springs, digital filters, fuzzy control, clustering, and robot control. Thank you, questions?</a:t>
            </a:r>
            <a:endParaRPr/>
          </a:p>
        </p:txBody>
      </p:sp>
      <p:sp>
        <p:nvSpPr>
          <p:cNvPr id="225" name="Google Shape;225;h4fd6c64567bb97b5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AF5E8"/>
        </a:solidFill>
      </p:bgPr>
    </p:bg>
    <p:spTree>
      <p:nvGrpSpPr>
        <p:cNvPr id="12" name="Shape 12"/>
        <p:cNvGrpSpPr/>
        <p:nvPr/>
      </p:nvGrpSpPr>
      <p:grpSpPr>
        <a:xfrm>
          <a:off x="0" y="0"/>
          <a:ext cx="0" cy="0"/>
          <a:chOff x="0" y="0"/>
          <a:chExt cx="0" cy="0"/>
        </a:xfrm>
      </p:grpSpPr>
      <p:sp>
        <p:nvSpPr>
          <p:cNvPr id="13" name="Google Shape;13;p14"/>
          <p:cNvSpPr txBox="1"/>
          <p:nvPr>
            <p:ph type="title"/>
          </p:nvPr>
        </p:nvSpPr>
        <p:spPr>
          <a:xfrm>
            <a:off x="812800" y="1137890"/>
            <a:ext cx="10566400" cy="5308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C1A16"/>
              </a:buClr>
              <a:buSzPts val="3800"/>
              <a:buFont typeface="Oswald"/>
              <a:buNone/>
              <a:defRPr sz="3800">
                <a:solidFill>
                  <a:srgbClr val="1C1A16"/>
                </a:solidFill>
                <a:latin typeface="Oswald"/>
                <a:ea typeface="Oswald"/>
                <a:cs typeface="Oswald"/>
                <a:sym typeface="Oswa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body"/>
          </p:nvPr>
        </p:nvSpPr>
        <p:spPr>
          <a:xfrm>
            <a:off x="812800" y="1973511"/>
            <a:ext cx="10566400" cy="407168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C1A16"/>
              </a:buClr>
              <a:buSzPts val="1600"/>
              <a:buNone/>
              <a:defRPr sz="1600">
                <a:solidFill>
                  <a:srgbClr val="1C1A16"/>
                </a:solidFill>
                <a:latin typeface="Public Sans"/>
                <a:ea typeface="Public Sans"/>
                <a:cs typeface="Public Sans"/>
                <a:sym typeface="Public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12800" y="1137890"/>
            <a:ext cx="10566400" cy="5308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C1A16"/>
              </a:buClr>
              <a:buSzPts val="3800"/>
              <a:buFont typeface="Oswald"/>
              <a:buNone/>
              <a:defRPr b="0" i="0" sz="3800" u="none" cap="none" strike="noStrike">
                <a:solidFill>
                  <a:srgbClr val="1C1A16"/>
                </a:solidFill>
                <a:latin typeface="Oswald"/>
                <a:ea typeface="Oswald"/>
                <a:cs typeface="Oswald"/>
                <a:sym typeface="Oswald"/>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12800" y="1973511"/>
            <a:ext cx="10566400" cy="407168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C1A16"/>
              </a:buClr>
              <a:buSzPts val="1600"/>
              <a:buFont typeface="Arial"/>
              <a:buNone/>
              <a:defRPr b="0" i="0" sz="1600" u="none" cap="none" strike="noStrike">
                <a:solidFill>
                  <a:srgbClr val="1C1A16"/>
                </a:solidFill>
                <a:latin typeface="Public Sans"/>
                <a:ea typeface="Public Sans"/>
                <a:cs typeface="Public Sans"/>
                <a:sym typeface="Public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Public Sans"/>
                <a:ea typeface="Public Sans"/>
                <a:cs typeface="Public Sans"/>
                <a:sym typeface="Public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Public Sans"/>
                <a:ea typeface="Public Sans"/>
                <a:cs typeface="Public Sans"/>
                <a:sym typeface="Public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Public Sans"/>
                <a:ea typeface="Public Sans"/>
                <a:cs typeface="Public Sans"/>
                <a:sym typeface="Public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Public Sans"/>
                <a:ea typeface="Public Sans"/>
                <a:cs typeface="Public Sans"/>
                <a:sym typeface="Public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Public Sans"/>
                <a:ea typeface="Public Sans"/>
                <a:cs typeface="Public Sans"/>
                <a:sym typeface="Public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Public Sans"/>
                <a:ea typeface="Public Sans"/>
                <a:cs typeface="Public Sans"/>
                <a:sym typeface="Public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Public Sans"/>
                <a:ea typeface="Public Sans"/>
                <a:cs typeface="Public Sans"/>
                <a:sym typeface="Public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A16"/>
        </a:solidFill>
      </p:bgPr>
    </p:bg>
    <p:spTree>
      <p:nvGrpSpPr>
        <p:cNvPr id="20" name="Shape 20"/>
        <p:cNvGrpSpPr/>
        <p:nvPr/>
      </p:nvGrpSpPr>
      <p:grpSpPr>
        <a:xfrm>
          <a:off x="0" y="0"/>
          <a:ext cx="0" cy="0"/>
          <a:chOff x="0" y="0"/>
          <a:chExt cx="0" cy="0"/>
        </a:xfrm>
      </p:grpSpPr>
      <p:sp>
        <p:nvSpPr>
          <p:cNvPr id="21" name="Google Shape;21;p1"/>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Lora"/>
                <a:ea typeface="Lora"/>
                <a:cs typeface="Lora"/>
                <a:sym typeface="Lora"/>
              </a:rPr>
              <a:t>MACHINE LEARNING · ASSIGNMENT</a:t>
            </a:r>
            <a:endParaRPr b="1" i="0" sz="1400" u="none" cap="none" strike="noStrike">
              <a:solidFill>
                <a:schemeClr val="dk1"/>
              </a:solidFill>
              <a:latin typeface="Lora"/>
              <a:ea typeface="Lora"/>
              <a:cs typeface="Lora"/>
              <a:sym typeface="Lora"/>
            </a:endParaRPr>
          </a:p>
        </p:txBody>
      </p:sp>
      <p:sp>
        <p:nvSpPr>
          <p:cNvPr id="22" name="Google Shape;22;p1"/>
          <p:cNvSpPr txBox="1"/>
          <p:nvPr>
            <p:ph type="title"/>
          </p:nvPr>
        </p:nvSpPr>
        <p:spPr>
          <a:xfrm>
            <a:off x="812800" y="1559570"/>
            <a:ext cx="10883400" cy="1198800"/>
          </a:xfrm>
          <a:prstGeom prst="rect">
            <a:avLst/>
          </a:prstGeom>
          <a:noFill/>
          <a:ln>
            <a:noFill/>
          </a:ln>
        </p:spPr>
        <p:txBody>
          <a:bodyPr anchorCtr="0" anchor="t" bIns="0" lIns="0" spcFirstLastPara="1" rIns="0" wrap="square" tIns="0">
            <a:normAutofit fontScale="90000"/>
          </a:bodyPr>
          <a:lstStyle/>
          <a:p>
            <a:pPr indent="0" lvl="0" marL="0" rtl="0" algn="l">
              <a:lnSpc>
                <a:spcPct val="104999"/>
              </a:lnSpc>
              <a:spcBef>
                <a:spcPts val="0"/>
              </a:spcBef>
              <a:spcAft>
                <a:spcPts val="0"/>
              </a:spcAft>
              <a:buClr>
                <a:srgbClr val="FAF5E8"/>
              </a:buClr>
              <a:buSzPct val="100000"/>
              <a:buFont typeface="Oswald"/>
              <a:buNone/>
            </a:pPr>
            <a:r>
              <a:rPr b="1" i="0" lang="en-US" sz="8800">
                <a:solidFill>
                  <a:srgbClr val="FAF5E8"/>
                </a:solidFill>
                <a:latin typeface="Caveat"/>
                <a:ea typeface="Caveat"/>
                <a:cs typeface="Caveat"/>
                <a:sym typeface="Caveat"/>
              </a:rPr>
              <a:t>Artificial Bee Colony</a:t>
            </a:r>
            <a:endParaRPr b="1" sz="8800">
              <a:latin typeface="Caveat"/>
              <a:ea typeface="Caveat"/>
              <a:cs typeface="Caveat"/>
              <a:sym typeface="Caveat"/>
            </a:endParaRPr>
          </a:p>
        </p:txBody>
      </p:sp>
      <p:pic>
        <p:nvPicPr>
          <p:cNvPr descr="line" id="23" name="Google Shape;23;p1"/>
          <p:cNvPicPr preferRelativeResize="0"/>
          <p:nvPr/>
        </p:nvPicPr>
        <p:blipFill rotWithShape="1">
          <a:blip r:embed="rId3">
            <a:alphaModFix/>
          </a:blip>
          <a:srcRect b="0" l="0" r="0" t="0"/>
          <a:stretch/>
        </p:blipFill>
        <p:spPr>
          <a:xfrm>
            <a:off x="812800" y="2986475"/>
            <a:ext cx="7507126" cy="8450"/>
          </a:xfrm>
          <a:prstGeom prst="rect">
            <a:avLst/>
          </a:prstGeom>
          <a:noFill/>
          <a:ln>
            <a:noFill/>
          </a:ln>
        </p:spPr>
      </p:pic>
      <p:sp>
        <p:nvSpPr>
          <p:cNvPr id="24" name="Google Shape;24;p1"/>
          <p:cNvSpPr/>
          <p:nvPr/>
        </p:nvSpPr>
        <p:spPr>
          <a:xfrm>
            <a:off x="812800" y="3190230"/>
            <a:ext cx="10883400" cy="4215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FC6AE"/>
              </a:buClr>
              <a:buSzPts val="2400"/>
              <a:buFont typeface="Public Sans"/>
              <a:buNone/>
            </a:pPr>
            <a:r>
              <a:rPr b="0" i="0" lang="en-US" sz="2400" u="none" cap="none" strike="noStrike">
                <a:solidFill>
                  <a:srgbClr val="CFC6AE"/>
                </a:solidFill>
                <a:latin typeface="Public Sans"/>
                <a:ea typeface="Public Sans"/>
                <a:cs typeface="Public Sans"/>
                <a:sym typeface="Public Sans"/>
              </a:rPr>
              <a:t>Finding the global minimum of the 2D Ackley function</a:t>
            </a:r>
            <a:endParaRPr b="0" i="0" sz="2400" u="none" cap="none" strike="noStrike">
              <a:solidFill>
                <a:schemeClr val="dk1"/>
              </a:solidFill>
              <a:latin typeface="Public Sans"/>
              <a:ea typeface="Public Sans"/>
              <a:cs typeface="Public Sans"/>
              <a:sym typeface="Public Sans"/>
            </a:endParaRPr>
          </a:p>
        </p:txBody>
      </p:sp>
      <p:sp>
        <p:nvSpPr>
          <p:cNvPr id="25" name="Google Shape;25;p1"/>
          <p:cNvSpPr/>
          <p:nvPr/>
        </p:nvSpPr>
        <p:spPr>
          <a:xfrm>
            <a:off x="812800" y="5188550"/>
            <a:ext cx="6528300" cy="906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AE"/>
              </a:buClr>
              <a:buSzPts val="1600"/>
              <a:buFont typeface="Public Sans"/>
              <a:buNone/>
            </a:pPr>
            <a:r>
              <a:rPr lang="en-US" sz="2200">
                <a:solidFill>
                  <a:srgbClr val="CFC6AE"/>
                </a:solidFill>
                <a:latin typeface="Lora"/>
                <a:ea typeface="Lora"/>
                <a:cs typeface="Lora"/>
                <a:sym typeface="Lora"/>
              </a:rPr>
              <a:t>21070</a:t>
            </a:r>
            <a:r>
              <a:rPr b="1" lang="en-US" sz="2200">
                <a:solidFill>
                  <a:srgbClr val="CFC6AE"/>
                </a:solidFill>
                <a:latin typeface="Lora"/>
                <a:ea typeface="Lora"/>
                <a:cs typeface="Lora"/>
                <a:sym typeface="Lora"/>
              </a:rPr>
              <a:t>67    </a:t>
            </a:r>
            <a:r>
              <a:rPr lang="en-US" sz="2200">
                <a:solidFill>
                  <a:srgbClr val="CFC6AE"/>
                </a:solidFill>
                <a:latin typeface="Lora"/>
                <a:ea typeface="Lora"/>
                <a:cs typeface="Lora"/>
                <a:sym typeface="Lora"/>
              </a:rPr>
              <a:t>21070</a:t>
            </a:r>
            <a:r>
              <a:rPr b="1" lang="en-US" sz="2200">
                <a:solidFill>
                  <a:srgbClr val="CFC6AE"/>
                </a:solidFill>
                <a:latin typeface="Lora"/>
                <a:ea typeface="Lora"/>
                <a:cs typeface="Lora"/>
                <a:sym typeface="Lora"/>
              </a:rPr>
              <a:t>78    </a:t>
            </a:r>
            <a:r>
              <a:rPr lang="en-US" sz="2200">
                <a:solidFill>
                  <a:schemeClr val="accent5"/>
                </a:solidFill>
                <a:latin typeface="Lora"/>
                <a:ea typeface="Lora"/>
                <a:cs typeface="Lora"/>
                <a:sym typeface="Lora"/>
              </a:rPr>
              <a:t>21070</a:t>
            </a:r>
            <a:r>
              <a:rPr b="1" lang="en-US" sz="2200">
                <a:solidFill>
                  <a:schemeClr val="accent5"/>
                </a:solidFill>
                <a:latin typeface="Lora"/>
                <a:ea typeface="Lora"/>
                <a:cs typeface="Lora"/>
                <a:sym typeface="Lora"/>
              </a:rPr>
              <a:t>91</a:t>
            </a:r>
            <a:r>
              <a:rPr b="1" lang="en-US" sz="2200">
                <a:solidFill>
                  <a:srgbClr val="CFC6AE"/>
                </a:solidFill>
                <a:latin typeface="Lora"/>
                <a:ea typeface="Lora"/>
                <a:cs typeface="Lora"/>
                <a:sym typeface="Lora"/>
              </a:rPr>
              <a:t>    </a:t>
            </a:r>
            <a:endParaRPr b="1" sz="2200">
              <a:solidFill>
                <a:srgbClr val="CFC6AE"/>
              </a:solidFill>
              <a:latin typeface="Lora"/>
              <a:ea typeface="Lora"/>
              <a:cs typeface="Lora"/>
              <a:sym typeface="Lora"/>
            </a:endParaRPr>
          </a:p>
          <a:p>
            <a:pPr indent="0" lvl="0" marL="0" marR="0" rtl="0" algn="l">
              <a:lnSpc>
                <a:spcPct val="140000"/>
              </a:lnSpc>
              <a:spcBef>
                <a:spcPts val="0"/>
              </a:spcBef>
              <a:spcAft>
                <a:spcPts val="0"/>
              </a:spcAft>
              <a:buClr>
                <a:srgbClr val="CFC6AE"/>
              </a:buClr>
              <a:buSzPts val="1600"/>
              <a:buFont typeface="Public Sans"/>
              <a:buNone/>
            </a:pPr>
            <a:r>
              <a:rPr lang="en-US" sz="2200">
                <a:solidFill>
                  <a:srgbClr val="CFC6AE"/>
                </a:solidFill>
                <a:latin typeface="Lora"/>
                <a:ea typeface="Lora"/>
                <a:cs typeface="Lora"/>
                <a:sym typeface="Lora"/>
              </a:rPr>
              <a:t>2107</a:t>
            </a:r>
            <a:r>
              <a:rPr b="1" lang="en-US" sz="2200">
                <a:solidFill>
                  <a:srgbClr val="CFC6AE"/>
                </a:solidFill>
                <a:latin typeface="Lora"/>
                <a:ea typeface="Lora"/>
                <a:cs typeface="Lora"/>
                <a:sym typeface="Lora"/>
              </a:rPr>
              <a:t>100    </a:t>
            </a:r>
            <a:r>
              <a:rPr lang="en-US" sz="2200">
                <a:solidFill>
                  <a:srgbClr val="CFC6AE"/>
                </a:solidFill>
                <a:latin typeface="Lora"/>
                <a:ea typeface="Lora"/>
                <a:cs typeface="Lora"/>
                <a:sym typeface="Lora"/>
              </a:rPr>
              <a:t>2107</a:t>
            </a:r>
            <a:r>
              <a:rPr b="1" lang="en-US" sz="2200">
                <a:solidFill>
                  <a:srgbClr val="CFC6AE"/>
                </a:solidFill>
                <a:latin typeface="Lora"/>
                <a:ea typeface="Lora"/>
                <a:cs typeface="Lora"/>
                <a:sym typeface="Lora"/>
              </a:rPr>
              <a:t>108    </a:t>
            </a:r>
            <a:r>
              <a:rPr lang="en-US" sz="2200">
                <a:solidFill>
                  <a:srgbClr val="CFC6AE"/>
                </a:solidFill>
                <a:latin typeface="Lora"/>
                <a:ea typeface="Lora"/>
                <a:cs typeface="Lora"/>
                <a:sym typeface="Lora"/>
              </a:rPr>
              <a:t>2107</a:t>
            </a:r>
            <a:r>
              <a:rPr b="1" lang="en-US" sz="2200">
                <a:solidFill>
                  <a:srgbClr val="CFC6AE"/>
                </a:solidFill>
                <a:latin typeface="Lora"/>
                <a:ea typeface="Lora"/>
                <a:cs typeface="Lora"/>
                <a:sym typeface="Lora"/>
              </a:rPr>
              <a:t>115</a:t>
            </a:r>
            <a:endParaRPr b="1" sz="2200">
              <a:solidFill>
                <a:srgbClr val="CFC6AE"/>
              </a:solidFill>
              <a:latin typeface="Lora"/>
              <a:ea typeface="Lora"/>
              <a:cs typeface="Lora"/>
              <a:sym typeface="Lora"/>
            </a:endParaRPr>
          </a:p>
        </p:txBody>
      </p:sp>
      <p:sp>
        <p:nvSpPr>
          <p:cNvPr id="26" name="Google Shape;26;p1"/>
          <p:cNvSpPr/>
          <p:nvPr/>
        </p:nvSpPr>
        <p:spPr>
          <a:xfrm>
            <a:off x="812800" y="4535124"/>
            <a:ext cx="10883400" cy="421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FC6AE"/>
              </a:buClr>
              <a:buSzPts val="2400"/>
              <a:buFont typeface="Public Sans"/>
              <a:buNone/>
            </a:pPr>
            <a:r>
              <a:rPr lang="en-US" sz="2500">
                <a:solidFill>
                  <a:srgbClr val="CFC6AE"/>
                </a:solidFill>
                <a:latin typeface="Caveat SemiBold"/>
                <a:ea typeface="Caveat SemiBold"/>
                <a:cs typeface="Caveat SemiBold"/>
                <a:sym typeface="Caveat SemiBold"/>
              </a:rPr>
              <a:t>Presented by</a:t>
            </a:r>
            <a:endParaRPr i="0" sz="2500" u="none" cap="none" strike="noStrike">
              <a:solidFill>
                <a:schemeClr val="dk1"/>
              </a:solidFill>
              <a:latin typeface="Caveat SemiBold"/>
              <a:ea typeface="Caveat SemiBold"/>
              <a:cs typeface="Caveat SemiBold"/>
              <a:sym typeface="Caveat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31" name="Shape 31"/>
        <p:cNvGrpSpPr/>
        <p:nvPr/>
      </p:nvGrpSpPr>
      <p:grpSpPr>
        <a:xfrm>
          <a:off x="0" y="0"/>
          <a:ext cx="0" cy="0"/>
          <a:chOff x="0" y="0"/>
          <a:chExt cx="0" cy="0"/>
        </a:xfrm>
      </p:grpSpPr>
      <p:sp>
        <p:nvSpPr>
          <p:cNvPr id="32" name="Google Shape;32;p2"/>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THE PROBLEM</a:t>
            </a:r>
            <a:endParaRPr b="0" i="0" sz="1400" u="none" cap="none" strike="noStrike">
              <a:solidFill>
                <a:schemeClr val="dk1"/>
              </a:solidFill>
              <a:latin typeface="Public Sans"/>
              <a:ea typeface="Public Sans"/>
              <a:cs typeface="Public Sans"/>
              <a:sym typeface="Public Sans"/>
            </a:endParaRPr>
          </a:p>
        </p:txBody>
      </p:sp>
      <p:sp>
        <p:nvSpPr>
          <p:cNvPr id="33" name="Google Shape;33;p2"/>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Minimize the 2D Ackley function</a:t>
            </a:r>
            <a:endParaRPr sz="3800"/>
          </a:p>
        </p:txBody>
      </p:sp>
      <p:sp>
        <p:nvSpPr>
          <p:cNvPr id="34" name="Google Shape;34;p2"/>
          <p:cNvSpPr/>
          <p:nvPr/>
        </p:nvSpPr>
        <p:spPr>
          <a:xfrm>
            <a:off x="819150" y="3872150"/>
            <a:ext cx="3226200" cy="1461300"/>
          </a:xfrm>
          <a:prstGeom prst="roundRect">
            <a:avLst>
              <a:gd fmla="val 9675"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1054100" y="4107111"/>
            <a:ext cx="2991300" cy="452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800"/>
              <a:buFont typeface="Oswald"/>
              <a:buNone/>
            </a:pPr>
            <a:r>
              <a:rPr b="1" i="0" lang="en-US" sz="2800" u="none" cap="none" strike="noStrike">
                <a:solidFill>
                  <a:srgbClr val="8A5A00"/>
                </a:solidFill>
                <a:latin typeface="Oswald"/>
                <a:ea typeface="Oswald"/>
                <a:cs typeface="Oswald"/>
                <a:sym typeface="Oswald"/>
              </a:rPr>
              <a:t>f(0, 0) = 0</a:t>
            </a:r>
            <a:endParaRPr b="0" i="0" sz="2800" u="none" cap="none" strike="noStrike">
              <a:solidFill>
                <a:schemeClr val="dk1"/>
              </a:solidFill>
              <a:latin typeface="Public Sans"/>
              <a:ea typeface="Public Sans"/>
              <a:cs typeface="Public Sans"/>
              <a:sym typeface="Public Sans"/>
            </a:endParaRPr>
          </a:p>
        </p:txBody>
      </p:sp>
      <p:sp>
        <p:nvSpPr>
          <p:cNvPr id="36" name="Google Shape;36;p2"/>
          <p:cNvSpPr/>
          <p:nvPr/>
        </p:nvSpPr>
        <p:spPr>
          <a:xfrm>
            <a:off x="1054100" y="4762401"/>
            <a:ext cx="2991300" cy="299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The known global minimum</a:t>
            </a:r>
            <a:endParaRPr b="0" i="0" sz="1600" u="none" cap="none" strike="noStrike">
              <a:solidFill>
                <a:schemeClr val="dk1"/>
              </a:solidFill>
              <a:latin typeface="Public Sans"/>
              <a:ea typeface="Public Sans"/>
              <a:cs typeface="Public Sans"/>
              <a:sym typeface="Public Sans"/>
            </a:endParaRPr>
          </a:p>
        </p:txBody>
      </p:sp>
      <p:sp>
        <p:nvSpPr>
          <p:cNvPr id="37" name="Google Shape;37;p2"/>
          <p:cNvSpPr/>
          <p:nvPr/>
        </p:nvSpPr>
        <p:spPr>
          <a:xfrm>
            <a:off x="4256587" y="3872148"/>
            <a:ext cx="3374100" cy="1461300"/>
          </a:xfrm>
          <a:prstGeom prst="roundRect">
            <a:avLst>
              <a:gd fmla="val 9675"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4491534" y="4107111"/>
            <a:ext cx="2991300" cy="452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800"/>
              <a:buFont typeface="Oswald"/>
              <a:buNone/>
            </a:pPr>
            <a:r>
              <a:rPr b="1" i="0" lang="en-US" sz="2800" u="none" cap="none" strike="noStrike">
                <a:solidFill>
                  <a:srgbClr val="8A5A00"/>
                </a:solidFill>
                <a:latin typeface="Oswald"/>
                <a:ea typeface="Oswald"/>
                <a:cs typeface="Oswald"/>
                <a:sym typeface="Oswald"/>
              </a:rPr>
              <a:t>−5 ≤ x ≤ 5</a:t>
            </a:r>
            <a:endParaRPr b="0" i="0" sz="2800" u="none" cap="none" strike="noStrike">
              <a:solidFill>
                <a:schemeClr val="dk1"/>
              </a:solidFill>
              <a:latin typeface="Public Sans"/>
              <a:ea typeface="Public Sans"/>
              <a:cs typeface="Public Sans"/>
              <a:sym typeface="Public Sans"/>
            </a:endParaRPr>
          </a:p>
        </p:txBody>
      </p:sp>
      <p:sp>
        <p:nvSpPr>
          <p:cNvPr id="39" name="Google Shape;39;p2"/>
          <p:cNvSpPr/>
          <p:nvPr/>
        </p:nvSpPr>
        <p:spPr>
          <a:xfrm>
            <a:off x="4491534" y="4762401"/>
            <a:ext cx="2991300" cy="299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Search range for x1 and x2</a:t>
            </a:r>
            <a:endParaRPr b="0" i="0" sz="1600" u="none" cap="none" strike="noStrike">
              <a:solidFill>
                <a:schemeClr val="dk1"/>
              </a:solidFill>
              <a:latin typeface="Public Sans"/>
              <a:ea typeface="Public Sans"/>
              <a:cs typeface="Public Sans"/>
              <a:sym typeface="Public Sans"/>
            </a:endParaRPr>
          </a:p>
        </p:txBody>
      </p:sp>
      <p:sp>
        <p:nvSpPr>
          <p:cNvPr id="40" name="Google Shape;40;p2"/>
          <p:cNvSpPr/>
          <p:nvPr/>
        </p:nvSpPr>
        <p:spPr>
          <a:xfrm>
            <a:off x="7846474" y="3872150"/>
            <a:ext cx="2537400" cy="1461300"/>
          </a:xfrm>
          <a:prstGeom prst="roundRect">
            <a:avLst>
              <a:gd fmla="val 9675"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8081417" y="4107111"/>
            <a:ext cx="2991300" cy="452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800"/>
              <a:buFont typeface="Oswald"/>
              <a:buNone/>
            </a:pPr>
            <a:r>
              <a:rPr b="1" i="0" lang="en-US" sz="2800" u="none" cap="none" strike="noStrike">
                <a:solidFill>
                  <a:srgbClr val="8A5A00"/>
                </a:solidFill>
                <a:latin typeface="Oswald"/>
                <a:ea typeface="Oswald"/>
                <a:cs typeface="Oswald"/>
                <a:sym typeface="Oswald"/>
              </a:rPr>
              <a:t>a=20 b=0.2</a:t>
            </a:r>
            <a:endParaRPr b="0" i="0" sz="2800" u="none" cap="none" strike="noStrike">
              <a:solidFill>
                <a:schemeClr val="dk1"/>
              </a:solidFill>
              <a:latin typeface="Public Sans"/>
              <a:ea typeface="Public Sans"/>
              <a:cs typeface="Public Sans"/>
              <a:sym typeface="Public Sans"/>
            </a:endParaRPr>
          </a:p>
        </p:txBody>
      </p:sp>
      <p:sp>
        <p:nvSpPr>
          <p:cNvPr id="42" name="Google Shape;42;p2"/>
          <p:cNvSpPr/>
          <p:nvPr/>
        </p:nvSpPr>
        <p:spPr>
          <a:xfrm>
            <a:off x="8081417" y="4762401"/>
            <a:ext cx="2991300" cy="2997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and c = 2π</a:t>
            </a:r>
            <a:endParaRPr b="0" i="0" sz="1600" u="none" cap="none" strike="noStrike">
              <a:solidFill>
                <a:schemeClr val="dk1"/>
              </a:solidFill>
              <a:latin typeface="Public Sans"/>
              <a:ea typeface="Public Sans"/>
              <a:cs typeface="Public Sans"/>
              <a:sym typeface="Public Sans"/>
            </a:endParaRPr>
          </a:p>
        </p:txBody>
      </p:sp>
      <p:sp>
        <p:nvSpPr>
          <p:cNvPr id="43" name="Google Shape;43;p2"/>
          <p:cNvSpPr/>
          <p:nvPr/>
        </p:nvSpPr>
        <p:spPr>
          <a:xfrm>
            <a:off x="812800" y="5531991"/>
            <a:ext cx="10883400" cy="309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Many local minima around one global minimum: a classic test for optimizers.</a:t>
            </a:r>
            <a:endParaRPr b="0" i="0" sz="1600" u="none" cap="none" strike="noStrike">
              <a:solidFill>
                <a:schemeClr val="dk1"/>
              </a:solidFill>
              <a:latin typeface="Public Sans"/>
              <a:ea typeface="Public Sans"/>
              <a:cs typeface="Public Sans"/>
              <a:sym typeface="Public Sans"/>
            </a:endParaRPr>
          </a:p>
        </p:txBody>
      </p:sp>
      <p:sp>
        <p:nvSpPr>
          <p:cNvPr id="44" name="Google Shape;44;p2"/>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45" name="Google Shape;45;p2"/>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2</a:t>
            </a:r>
            <a:endParaRPr b="0" i="0" sz="1200" u="none" cap="none" strike="noStrike">
              <a:solidFill>
                <a:schemeClr val="dk1"/>
              </a:solidFill>
              <a:latin typeface="Public Sans"/>
              <a:ea typeface="Public Sans"/>
              <a:cs typeface="Public Sans"/>
              <a:sym typeface="Public Sans"/>
            </a:endParaRPr>
          </a:p>
        </p:txBody>
      </p:sp>
      <p:pic>
        <p:nvPicPr>
          <p:cNvPr id="46" name="Google Shape;46;p2" title="Ackley function 2D.jpg"/>
          <p:cNvPicPr preferRelativeResize="0"/>
          <p:nvPr/>
        </p:nvPicPr>
        <p:blipFill>
          <a:blip r:embed="rId3">
            <a:alphaModFix/>
          </a:blip>
          <a:stretch>
            <a:fillRect/>
          </a:stretch>
        </p:blipFill>
        <p:spPr>
          <a:xfrm>
            <a:off x="819150" y="1839975"/>
            <a:ext cx="9564583" cy="188608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51" name="Shape 51"/>
        <p:cNvGrpSpPr/>
        <p:nvPr/>
      </p:nvGrpSpPr>
      <p:grpSpPr>
        <a:xfrm>
          <a:off x="0" y="0"/>
          <a:ext cx="0" cy="0"/>
          <a:chOff x="0" y="0"/>
          <a:chExt cx="0" cy="0"/>
        </a:xfrm>
      </p:grpSpPr>
      <p:sp>
        <p:nvSpPr>
          <p:cNvPr id="52" name="Google Shape;52;p3"/>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THE ALGORITHM</a:t>
            </a:r>
            <a:endParaRPr b="0" i="0" sz="1400" u="none" cap="none" strike="noStrike">
              <a:solidFill>
                <a:schemeClr val="dk1"/>
              </a:solidFill>
              <a:latin typeface="Public Sans"/>
              <a:ea typeface="Public Sans"/>
              <a:cs typeface="Public Sans"/>
              <a:sym typeface="Public Sans"/>
            </a:endParaRPr>
          </a:p>
        </p:txBody>
      </p:sp>
      <p:sp>
        <p:nvSpPr>
          <p:cNvPr id="53" name="Google Shape;53;p3"/>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Three groups of bees</a:t>
            </a:r>
            <a:endParaRPr sz="3800"/>
          </a:p>
        </p:txBody>
      </p:sp>
      <p:sp>
        <p:nvSpPr>
          <p:cNvPr id="54" name="Google Shape;54;p3"/>
          <p:cNvSpPr/>
          <p:nvPr/>
        </p:nvSpPr>
        <p:spPr>
          <a:xfrm>
            <a:off x="819150" y="1929047"/>
            <a:ext cx="3373800" cy="2589900"/>
          </a:xfrm>
          <a:prstGeom prst="roundRect">
            <a:avLst>
              <a:gd fmla="val 5786"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1079500" y="2189411"/>
            <a:ext cx="2938831"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Employed bees</a:t>
            </a:r>
            <a:endParaRPr b="0" i="0" sz="2400" u="none" cap="none" strike="noStrike">
              <a:solidFill>
                <a:schemeClr val="dk1"/>
              </a:solidFill>
              <a:latin typeface="Public Sans"/>
              <a:ea typeface="Public Sans"/>
              <a:cs typeface="Public Sans"/>
              <a:sym typeface="Public Sans"/>
            </a:endParaRPr>
          </a:p>
        </p:txBody>
      </p:sp>
      <p:sp>
        <p:nvSpPr>
          <p:cNvPr id="56" name="Google Shape;56;p3"/>
          <p:cNvSpPr/>
          <p:nvPr/>
        </p:nvSpPr>
        <p:spPr>
          <a:xfrm>
            <a:off x="1079500" y="2885331"/>
            <a:ext cx="2938800" cy="8484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Stay on a food source and search the neighbourhood of that source.</a:t>
            </a:r>
            <a:endParaRPr b="0" i="0" sz="1600" u="none" cap="none" strike="noStrike">
              <a:solidFill>
                <a:schemeClr val="dk1"/>
              </a:solidFill>
              <a:latin typeface="Public Sans"/>
              <a:ea typeface="Public Sans"/>
              <a:cs typeface="Public Sans"/>
              <a:sym typeface="Public Sans"/>
            </a:endParaRPr>
          </a:p>
        </p:txBody>
      </p:sp>
      <p:sp>
        <p:nvSpPr>
          <p:cNvPr id="57" name="Google Shape;57;p3"/>
          <p:cNvSpPr/>
          <p:nvPr/>
        </p:nvSpPr>
        <p:spPr>
          <a:xfrm>
            <a:off x="4408984" y="1929047"/>
            <a:ext cx="3374100" cy="2589900"/>
          </a:xfrm>
          <a:prstGeom prst="roundRect">
            <a:avLst>
              <a:gd fmla="val 5786"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669334" y="2189411"/>
            <a:ext cx="2938882"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Onlooker bees</a:t>
            </a:r>
            <a:endParaRPr b="0" i="0" sz="2400" u="none" cap="none" strike="noStrike">
              <a:solidFill>
                <a:schemeClr val="dk1"/>
              </a:solidFill>
              <a:latin typeface="Public Sans"/>
              <a:ea typeface="Public Sans"/>
              <a:cs typeface="Public Sans"/>
              <a:sym typeface="Public Sans"/>
            </a:endParaRPr>
          </a:p>
        </p:txBody>
      </p:sp>
      <p:sp>
        <p:nvSpPr>
          <p:cNvPr id="59" name="Google Shape;59;p3"/>
          <p:cNvSpPr/>
          <p:nvPr/>
        </p:nvSpPr>
        <p:spPr>
          <a:xfrm>
            <a:off x="4669334" y="2885331"/>
            <a:ext cx="2938800" cy="11226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Get food-source information from the employed bees and choose which sources to gather nectar from.</a:t>
            </a:r>
            <a:endParaRPr b="0" i="0" sz="1600" u="none" cap="none" strike="noStrike">
              <a:solidFill>
                <a:schemeClr val="dk1"/>
              </a:solidFill>
              <a:latin typeface="Public Sans"/>
              <a:ea typeface="Public Sans"/>
              <a:cs typeface="Public Sans"/>
              <a:sym typeface="Public Sans"/>
            </a:endParaRPr>
          </a:p>
        </p:txBody>
      </p:sp>
      <p:sp>
        <p:nvSpPr>
          <p:cNvPr id="60" name="Google Shape;60;p3"/>
          <p:cNvSpPr/>
          <p:nvPr/>
        </p:nvSpPr>
        <p:spPr>
          <a:xfrm>
            <a:off x="7998867" y="1929047"/>
            <a:ext cx="3374100" cy="2589900"/>
          </a:xfrm>
          <a:prstGeom prst="roundRect">
            <a:avLst>
              <a:gd fmla="val 5786"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a:off x="8259217" y="2189411"/>
            <a:ext cx="2938882"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Scout bees</a:t>
            </a:r>
            <a:endParaRPr b="0" i="0" sz="2400" u="none" cap="none" strike="noStrike">
              <a:solidFill>
                <a:schemeClr val="dk1"/>
              </a:solidFill>
              <a:latin typeface="Public Sans"/>
              <a:ea typeface="Public Sans"/>
              <a:cs typeface="Public Sans"/>
              <a:sym typeface="Public Sans"/>
            </a:endParaRPr>
          </a:p>
        </p:txBody>
      </p:sp>
      <p:sp>
        <p:nvSpPr>
          <p:cNvPr id="62" name="Google Shape;62;p3"/>
          <p:cNvSpPr/>
          <p:nvPr/>
        </p:nvSpPr>
        <p:spPr>
          <a:xfrm>
            <a:off x="8259217" y="2885331"/>
            <a:ext cx="2938800" cy="1122600"/>
          </a:xfrm>
          <a:prstGeom prst="rect">
            <a:avLst/>
          </a:prstGeom>
          <a:noFill/>
          <a:ln>
            <a:noFill/>
          </a:ln>
        </p:spPr>
        <p:txBody>
          <a:bodyPr anchorCtr="0" anchor="t" bIns="0" lIns="0" spcFirstLastPara="1" rIns="0" wrap="square" tIns="0">
            <a:normAutofit/>
          </a:bodyPr>
          <a:lstStyle/>
          <a:p>
            <a:pPr indent="0" lvl="0" marL="0" marR="0" rtl="0" algn="l">
              <a:lnSpc>
                <a:spcPct val="135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When a food source is abandoned, its bee becomes a scout and searches for a new source.</a:t>
            </a:r>
            <a:endParaRPr b="0" i="0" sz="1600" u="none" cap="none" strike="noStrike">
              <a:solidFill>
                <a:schemeClr val="dk1"/>
              </a:solidFill>
              <a:latin typeface="Public Sans"/>
              <a:ea typeface="Public Sans"/>
              <a:cs typeface="Public Sans"/>
              <a:sym typeface="Public Sans"/>
            </a:endParaRPr>
          </a:p>
        </p:txBody>
      </p:sp>
      <p:sp>
        <p:nvSpPr>
          <p:cNvPr id="63" name="Google Shape;63;p3"/>
          <p:cNvSpPr/>
          <p:nvPr/>
        </p:nvSpPr>
        <p:spPr>
          <a:xfrm>
            <a:off x="812800" y="4884192"/>
            <a:ext cx="10883400" cy="309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Food source = candidate solution [x1, x2] · Nectar quality = fitness</a:t>
            </a:r>
            <a:endParaRPr b="0" i="0" sz="1600" u="none" cap="none" strike="noStrike">
              <a:solidFill>
                <a:schemeClr val="dk1"/>
              </a:solidFill>
              <a:latin typeface="Public Sans"/>
              <a:ea typeface="Public Sans"/>
              <a:cs typeface="Public Sans"/>
              <a:sym typeface="Public Sans"/>
            </a:endParaRPr>
          </a:p>
        </p:txBody>
      </p:sp>
      <p:sp>
        <p:nvSpPr>
          <p:cNvPr id="64" name="Google Shape;64;p3"/>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65" name="Google Shape;65;p3"/>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3</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A16"/>
        </a:solidFill>
      </p:bgPr>
    </p:bg>
    <p:spTree>
      <p:nvGrpSpPr>
        <p:cNvPr id="70" name="Shape 70"/>
        <p:cNvGrpSpPr/>
        <p:nvPr/>
      </p:nvGrpSpPr>
      <p:grpSpPr>
        <a:xfrm>
          <a:off x="0" y="0"/>
          <a:ext cx="0" cy="0"/>
          <a:chOff x="0" y="0"/>
          <a:chExt cx="0" cy="0"/>
        </a:xfrm>
      </p:grpSpPr>
      <p:sp>
        <p:nvSpPr>
          <p:cNvPr id="71" name="Google Shape;71;p4"/>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Public Sans"/>
                <a:ea typeface="Public Sans"/>
                <a:cs typeface="Public Sans"/>
                <a:sym typeface="Public Sans"/>
              </a:rPr>
              <a:t>THE ALGORITHM</a:t>
            </a:r>
            <a:endParaRPr b="0" i="0" sz="1400" u="none" cap="none" strike="noStrike">
              <a:solidFill>
                <a:schemeClr val="dk1"/>
              </a:solidFill>
              <a:latin typeface="Public Sans"/>
              <a:ea typeface="Public Sans"/>
              <a:cs typeface="Public Sans"/>
              <a:sym typeface="Public Sans"/>
            </a:endParaRPr>
          </a:p>
        </p:txBody>
      </p:sp>
      <p:sp>
        <p:nvSpPr>
          <p:cNvPr id="72" name="Google Shape;72;p4"/>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AF5E8"/>
              </a:buClr>
              <a:buSzPts val="3800"/>
              <a:buFont typeface="Oswald"/>
              <a:buNone/>
            </a:pPr>
            <a:r>
              <a:rPr b="1" i="0" lang="en-US" sz="3800">
                <a:solidFill>
                  <a:srgbClr val="FAF5E8"/>
                </a:solidFill>
                <a:latin typeface="Oswald"/>
                <a:ea typeface="Oswald"/>
                <a:cs typeface="Oswald"/>
                <a:sym typeface="Oswald"/>
              </a:rPr>
              <a:t>Four steps</a:t>
            </a:r>
            <a:endParaRPr sz="3800"/>
          </a:p>
        </p:txBody>
      </p:sp>
      <p:sp>
        <p:nvSpPr>
          <p:cNvPr id="73" name="Google Shape;73;p4"/>
          <p:cNvSpPr/>
          <p:nvPr/>
        </p:nvSpPr>
        <p:spPr>
          <a:xfrm>
            <a:off x="819150" y="1979861"/>
            <a:ext cx="2476500" cy="2830711"/>
          </a:xfrm>
          <a:prstGeom prst="roundRect">
            <a:avLst>
              <a:gd fmla="val 4872" name="adj"/>
            </a:avLst>
          </a:prstGeom>
          <a:solidFill>
            <a:srgbClr val="2A2720"/>
          </a:solidFill>
          <a:ln cap="flat" cmpd="sng" w="12700">
            <a:solidFill>
              <a:srgbClr val="4A44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1054100" y="2214811"/>
            <a:ext cx="2066798"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Public Sans"/>
                <a:ea typeface="Public Sans"/>
                <a:cs typeface="Public Sans"/>
                <a:sym typeface="Public Sans"/>
              </a:rPr>
              <a:t>STEP 1</a:t>
            </a:r>
            <a:endParaRPr b="0" i="0" sz="1400" u="none" cap="none" strike="noStrike">
              <a:solidFill>
                <a:schemeClr val="dk1"/>
              </a:solidFill>
              <a:latin typeface="Public Sans"/>
              <a:ea typeface="Public Sans"/>
              <a:cs typeface="Public Sans"/>
              <a:sym typeface="Public Sans"/>
            </a:endParaRPr>
          </a:p>
        </p:txBody>
      </p:sp>
      <p:sp>
        <p:nvSpPr>
          <p:cNvPr id="75" name="Google Shape;75;p4"/>
          <p:cNvSpPr/>
          <p:nvPr/>
        </p:nvSpPr>
        <p:spPr>
          <a:xfrm>
            <a:off x="1054100" y="2565301"/>
            <a:ext cx="2066798" cy="5866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Assign control parameters</a:t>
            </a:r>
            <a:endParaRPr b="0" i="0" sz="1700" u="none" cap="none" strike="noStrike">
              <a:solidFill>
                <a:schemeClr val="dk1"/>
              </a:solidFill>
              <a:latin typeface="Public Sans"/>
              <a:ea typeface="Public Sans"/>
              <a:cs typeface="Public Sans"/>
              <a:sym typeface="Public Sans"/>
            </a:endParaRPr>
          </a:p>
        </p:txBody>
      </p:sp>
      <p:sp>
        <p:nvSpPr>
          <p:cNvPr id="76" name="Google Shape;76;p4"/>
          <p:cNvSpPr/>
          <p:nvPr/>
        </p:nvSpPr>
        <p:spPr>
          <a:xfrm>
            <a:off x="3511550" y="1979861"/>
            <a:ext cx="2476500" cy="2830711"/>
          </a:xfrm>
          <a:prstGeom prst="roundRect">
            <a:avLst>
              <a:gd fmla="val 4872" name="adj"/>
            </a:avLst>
          </a:prstGeom>
          <a:solidFill>
            <a:srgbClr val="2A2720"/>
          </a:solidFill>
          <a:ln cap="flat" cmpd="sng" w="12700">
            <a:solidFill>
              <a:srgbClr val="4A44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3746500" y="2214811"/>
            <a:ext cx="2066798"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Public Sans"/>
                <a:ea typeface="Public Sans"/>
                <a:cs typeface="Public Sans"/>
                <a:sym typeface="Public Sans"/>
              </a:rPr>
              <a:t>STEP 2</a:t>
            </a:r>
            <a:endParaRPr b="0" i="0" sz="1400" u="none" cap="none" strike="noStrike">
              <a:solidFill>
                <a:schemeClr val="dk1"/>
              </a:solidFill>
              <a:latin typeface="Public Sans"/>
              <a:ea typeface="Public Sans"/>
              <a:cs typeface="Public Sans"/>
              <a:sym typeface="Public Sans"/>
            </a:endParaRPr>
          </a:p>
        </p:txBody>
      </p:sp>
      <p:sp>
        <p:nvSpPr>
          <p:cNvPr id="78" name="Google Shape;78;p4"/>
          <p:cNvSpPr/>
          <p:nvPr/>
        </p:nvSpPr>
        <p:spPr>
          <a:xfrm>
            <a:off x="3746500" y="2565301"/>
            <a:ext cx="2066798" cy="86732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Initialize solutions and calculate fitness</a:t>
            </a:r>
            <a:endParaRPr b="0" i="0" sz="1700" u="none" cap="none" strike="noStrike">
              <a:solidFill>
                <a:schemeClr val="dk1"/>
              </a:solidFill>
              <a:latin typeface="Public Sans"/>
              <a:ea typeface="Public Sans"/>
              <a:cs typeface="Public Sans"/>
              <a:sym typeface="Public Sans"/>
            </a:endParaRPr>
          </a:p>
        </p:txBody>
      </p:sp>
      <p:sp>
        <p:nvSpPr>
          <p:cNvPr id="79" name="Google Shape;79;p4"/>
          <p:cNvSpPr/>
          <p:nvPr/>
        </p:nvSpPr>
        <p:spPr>
          <a:xfrm>
            <a:off x="6203950" y="1979861"/>
            <a:ext cx="2476500" cy="2830711"/>
          </a:xfrm>
          <a:prstGeom prst="roundRect">
            <a:avLst>
              <a:gd fmla="val 4872" name="adj"/>
            </a:avLst>
          </a:prstGeom>
          <a:solidFill>
            <a:srgbClr val="2A2720"/>
          </a:solidFill>
          <a:ln cap="flat" cmpd="sng" w="12700">
            <a:solidFill>
              <a:srgbClr val="F2B6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6438900" y="2214811"/>
            <a:ext cx="2066798"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Public Sans"/>
                <a:ea typeface="Public Sans"/>
                <a:cs typeface="Public Sans"/>
                <a:sym typeface="Public Sans"/>
              </a:rPr>
              <a:t>STEP 3</a:t>
            </a:r>
            <a:endParaRPr b="0" i="0" sz="1400" u="none" cap="none" strike="noStrike">
              <a:solidFill>
                <a:schemeClr val="dk1"/>
              </a:solidFill>
              <a:latin typeface="Public Sans"/>
              <a:ea typeface="Public Sans"/>
              <a:cs typeface="Public Sans"/>
              <a:sym typeface="Public Sans"/>
            </a:endParaRPr>
          </a:p>
        </p:txBody>
      </p:sp>
      <p:sp>
        <p:nvSpPr>
          <p:cNvPr id="81" name="Google Shape;81;p4"/>
          <p:cNvSpPr/>
          <p:nvPr/>
        </p:nvSpPr>
        <p:spPr>
          <a:xfrm>
            <a:off x="6438900" y="2565301"/>
            <a:ext cx="2066798" cy="86732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Repeat until the stopping criteria is met</a:t>
            </a:r>
            <a:endParaRPr b="0" i="0" sz="1700" u="none" cap="none" strike="noStrike">
              <a:solidFill>
                <a:schemeClr val="dk1"/>
              </a:solidFill>
              <a:latin typeface="Public Sans"/>
              <a:ea typeface="Public Sans"/>
              <a:cs typeface="Public Sans"/>
              <a:sym typeface="Public Sans"/>
            </a:endParaRPr>
          </a:p>
        </p:txBody>
      </p:sp>
      <p:sp>
        <p:nvSpPr>
          <p:cNvPr id="82" name="Google Shape;82;p4"/>
          <p:cNvSpPr/>
          <p:nvPr/>
        </p:nvSpPr>
        <p:spPr>
          <a:xfrm>
            <a:off x="6522720" y="3508821"/>
            <a:ext cx="1975358" cy="1092200"/>
          </a:xfrm>
          <a:prstGeom prst="rect">
            <a:avLst/>
          </a:prstGeom>
          <a:noFill/>
          <a:ln>
            <a:noFill/>
          </a:ln>
        </p:spPr>
        <p:txBody>
          <a:bodyPr anchorCtr="0" anchor="t" bIns="0" lIns="0" spcFirstLastPara="1" rIns="0" wrap="square" tIns="0">
            <a:normAutofit/>
          </a:bodyPr>
          <a:lstStyle/>
          <a:p>
            <a:pPr indent="-170180" lvl="0" marL="170180" marR="0" rtl="0" algn="l">
              <a:lnSpc>
                <a:spcPct val="140000"/>
              </a:lnSpc>
              <a:spcBef>
                <a:spcPts val="0"/>
              </a:spcBef>
              <a:spcAft>
                <a:spcPts val="0"/>
              </a:spcAft>
              <a:buClr>
                <a:srgbClr val="CFC6AE"/>
              </a:buClr>
              <a:buSzPts val="1500"/>
              <a:buFont typeface="Public Sans"/>
              <a:buChar char="•"/>
            </a:pPr>
            <a:r>
              <a:rPr b="0" i="0" lang="en-US" sz="1500" u="none" cap="none" strike="noStrike">
                <a:solidFill>
                  <a:srgbClr val="CFC6AE"/>
                </a:solidFill>
                <a:latin typeface="Public Sans"/>
                <a:ea typeface="Public Sans"/>
                <a:cs typeface="Public Sans"/>
                <a:sym typeface="Public Sans"/>
              </a:rPr>
              <a:t>Employed bees</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CFC6AE"/>
              </a:buClr>
              <a:buSzPts val="1500"/>
              <a:buFont typeface="Public Sans"/>
              <a:buChar char="•"/>
            </a:pPr>
            <a:r>
              <a:rPr b="0" i="0" lang="en-US" sz="1500" u="none" cap="none" strike="noStrike">
                <a:solidFill>
                  <a:srgbClr val="CFC6AE"/>
                </a:solidFill>
                <a:latin typeface="Public Sans"/>
                <a:ea typeface="Public Sans"/>
                <a:cs typeface="Public Sans"/>
                <a:sym typeface="Public Sans"/>
              </a:rPr>
              <a:t>Onlooker bees</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CFC6AE"/>
              </a:buClr>
              <a:buSzPts val="1500"/>
              <a:buFont typeface="Public Sans"/>
              <a:buChar char="•"/>
            </a:pPr>
            <a:r>
              <a:rPr b="0" i="0" lang="en-US" sz="1500" u="none" cap="none" strike="noStrike">
                <a:solidFill>
                  <a:srgbClr val="CFC6AE"/>
                </a:solidFill>
                <a:latin typeface="Public Sans"/>
                <a:ea typeface="Public Sans"/>
                <a:cs typeface="Public Sans"/>
                <a:sym typeface="Public Sans"/>
              </a:rPr>
              <a:t>Scout bees</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CFC6AE"/>
              </a:buClr>
              <a:buSzPts val="1500"/>
              <a:buFont typeface="Public Sans"/>
              <a:buChar char="•"/>
            </a:pPr>
            <a:r>
              <a:rPr b="0" i="0" lang="en-US" sz="1500" u="none" cap="none" strike="noStrike">
                <a:solidFill>
                  <a:srgbClr val="CFC6AE"/>
                </a:solidFill>
                <a:latin typeface="Public Sans"/>
                <a:ea typeface="Public Sans"/>
                <a:cs typeface="Public Sans"/>
                <a:sym typeface="Public Sans"/>
              </a:rPr>
              <a:t>Memorize the best</a:t>
            </a:r>
            <a:endParaRPr b="0" i="0" sz="1500" u="none" cap="none" strike="noStrike">
              <a:solidFill>
                <a:schemeClr val="dk1"/>
              </a:solidFill>
              <a:latin typeface="Public Sans"/>
              <a:ea typeface="Public Sans"/>
              <a:cs typeface="Public Sans"/>
              <a:sym typeface="Public Sans"/>
            </a:endParaRPr>
          </a:p>
        </p:txBody>
      </p:sp>
      <p:sp>
        <p:nvSpPr>
          <p:cNvPr id="83" name="Google Shape;83;p4"/>
          <p:cNvSpPr/>
          <p:nvPr/>
        </p:nvSpPr>
        <p:spPr>
          <a:xfrm>
            <a:off x="8896350" y="1979861"/>
            <a:ext cx="2476500" cy="2830711"/>
          </a:xfrm>
          <a:prstGeom prst="roundRect">
            <a:avLst>
              <a:gd fmla="val 4872" name="adj"/>
            </a:avLst>
          </a:prstGeom>
          <a:solidFill>
            <a:srgbClr val="2A2720"/>
          </a:solidFill>
          <a:ln cap="flat" cmpd="sng" w="12700">
            <a:solidFill>
              <a:srgbClr val="4A44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9131300" y="2214811"/>
            <a:ext cx="2066798"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Public Sans"/>
                <a:ea typeface="Public Sans"/>
                <a:cs typeface="Public Sans"/>
                <a:sym typeface="Public Sans"/>
              </a:rPr>
              <a:t>STEP 4</a:t>
            </a:r>
            <a:endParaRPr b="0" i="0" sz="1400" u="none" cap="none" strike="noStrike">
              <a:solidFill>
                <a:schemeClr val="dk1"/>
              </a:solidFill>
              <a:latin typeface="Public Sans"/>
              <a:ea typeface="Public Sans"/>
              <a:cs typeface="Public Sans"/>
              <a:sym typeface="Public Sans"/>
            </a:endParaRPr>
          </a:p>
        </p:txBody>
      </p:sp>
      <p:sp>
        <p:nvSpPr>
          <p:cNvPr id="85" name="Google Shape;85;p4"/>
          <p:cNvSpPr/>
          <p:nvPr/>
        </p:nvSpPr>
        <p:spPr>
          <a:xfrm>
            <a:off x="9131300" y="2565301"/>
            <a:ext cx="2066798" cy="30604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Stop</a:t>
            </a:r>
            <a:endParaRPr b="0" i="0" sz="1700" u="none" cap="none" strike="noStrike">
              <a:solidFill>
                <a:schemeClr val="dk1"/>
              </a:solidFill>
              <a:latin typeface="Public Sans"/>
              <a:ea typeface="Public Sans"/>
              <a:cs typeface="Public Sans"/>
              <a:sym typeface="Public Sans"/>
            </a:endParaRPr>
          </a:p>
        </p:txBody>
      </p:sp>
      <p:sp>
        <p:nvSpPr>
          <p:cNvPr id="86" name="Google Shape;86;p4"/>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AE"/>
              </a:buClr>
              <a:buSzPts val="1200"/>
              <a:buFont typeface="Public Sans"/>
              <a:buNone/>
            </a:pPr>
            <a:r>
              <a:rPr b="0" i="0" lang="en-US" sz="1200" u="none" cap="none" strike="noStrike">
                <a:solidFill>
                  <a:srgbClr val="CFC6AE"/>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87" name="Google Shape;87;p4"/>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CFC6AE"/>
              </a:buClr>
              <a:buSzPts val="1200"/>
              <a:buFont typeface="Public Sans"/>
              <a:buNone/>
            </a:pPr>
            <a:r>
              <a:rPr b="0" i="0" lang="en-US" sz="1200" u="none" cap="none" strike="noStrike">
                <a:solidFill>
                  <a:srgbClr val="CFC6AE"/>
                </a:solidFill>
                <a:latin typeface="Public Sans"/>
                <a:ea typeface="Public Sans"/>
                <a:cs typeface="Public Sans"/>
                <a:sym typeface="Public Sans"/>
              </a:rPr>
              <a:t>4</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92" name="Shape 92"/>
        <p:cNvGrpSpPr/>
        <p:nvPr/>
      </p:nvGrpSpPr>
      <p:grpSpPr>
        <a:xfrm>
          <a:off x="0" y="0"/>
          <a:ext cx="0" cy="0"/>
          <a:chOff x="0" y="0"/>
          <a:chExt cx="0" cy="0"/>
        </a:xfrm>
      </p:grpSpPr>
      <p:sp>
        <p:nvSpPr>
          <p:cNvPr id="93" name="Google Shape;93;p5"/>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STEPS 1 AND 2</a:t>
            </a:r>
            <a:endParaRPr b="0" i="0" sz="1400" u="none" cap="none" strike="noStrike">
              <a:solidFill>
                <a:schemeClr val="dk1"/>
              </a:solidFill>
              <a:latin typeface="Public Sans"/>
              <a:ea typeface="Public Sans"/>
              <a:cs typeface="Public Sans"/>
              <a:sym typeface="Public Sans"/>
            </a:endParaRPr>
          </a:p>
        </p:txBody>
      </p:sp>
      <p:sp>
        <p:nvSpPr>
          <p:cNvPr id="94" name="Google Shape;94;p5"/>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Parameters and initialization</a:t>
            </a:r>
            <a:endParaRPr sz="3800"/>
          </a:p>
        </p:txBody>
      </p:sp>
      <p:graphicFrame>
        <p:nvGraphicFramePr>
          <p:cNvPr id="95" name="Google Shape;95;p5"/>
          <p:cNvGraphicFramePr/>
          <p:nvPr/>
        </p:nvGraphicFramePr>
        <p:xfrm>
          <a:off x="825500" y="1935411"/>
          <a:ext cx="3000000" cy="3000000"/>
        </p:xfrm>
        <a:graphic>
          <a:graphicData uri="http://schemas.openxmlformats.org/drawingml/2006/table">
            <a:tbl>
              <a:tblPr>
                <a:noFill/>
                <a:tableStyleId>{8C74C288-C6E3-4506-9848-9D43E5F9F4BF}</a:tableStyleId>
              </a:tblPr>
              <a:tblGrid>
                <a:gridCol w="2984250"/>
                <a:gridCol w="1829050"/>
              </a:tblGrid>
              <a:tr h="412750">
                <a:tc>
                  <a:txBody>
                    <a:bodyPr/>
                    <a:lstStyle/>
                    <a:p>
                      <a:pPr indent="0" lvl="0" marL="0" marR="0" rtl="0" algn="l">
                        <a:lnSpc>
                          <a:spcPct val="140000"/>
                        </a:lnSpc>
                        <a:spcBef>
                          <a:spcPts val="0"/>
                        </a:spcBef>
                        <a:spcAft>
                          <a:spcPts val="0"/>
                        </a:spcAft>
                        <a:buClr>
                          <a:srgbClr val="1C1A16"/>
                        </a:buClr>
                        <a:buSzPts val="1500"/>
                        <a:buFont typeface="Public Sans"/>
                        <a:buNone/>
                      </a:pPr>
                      <a:r>
                        <a:rPr b="1" lang="en-US" sz="1500" u="none" cap="none" strike="noStrike">
                          <a:solidFill>
                            <a:srgbClr val="1C1A16"/>
                          </a:solidFill>
                          <a:latin typeface="Public Sans"/>
                          <a:ea typeface="Public Sans"/>
                          <a:cs typeface="Public Sans"/>
                          <a:sym typeface="Public Sans"/>
                        </a:rPr>
                        <a:t>Control parameter</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B9B5AC"/>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B9B5AC"/>
                      </a:solidFill>
                      <a:prstDash val="solid"/>
                      <a:round/>
                      <a:headEnd len="sm" w="sm" type="none"/>
                      <a:tailEnd len="sm" w="sm" type="none"/>
                    </a:lnB>
                    <a:solidFill>
                      <a:srgbClr val="E8E3D7"/>
                    </a:solidFill>
                  </a:tcPr>
                </a:tc>
                <a:tc>
                  <a:txBody>
                    <a:bodyPr/>
                    <a:lstStyle/>
                    <a:p>
                      <a:pPr indent="0" lvl="0" marL="0" marR="0" rtl="0" algn="r">
                        <a:lnSpc>
                          <a:spcPct val="140000"/>
                        </a:lnSpc>
                        <a:spcBef>
                          <a:spcPts val="0"/>
                        </a:spcBef>
                        <a:spcAft>
                          <a:spcPts val="0"/>
                        </a:spcAft>
                        <a:buClr>
                          <a:srgbClr val="1C1A16"/>
                        </a:buClr>
                        <a:buSzPts val="1500"/>
                        <a:buFont typeface="Public Sans"/>
                        <a:buNone/>
                      </a:pPr>
                      <a:r>
                        <a:rPr b="1" lang="en-US" sz="1500" u="none" cap="none" strike="noStrike">
                          <a:solidFill>
                            <a:srgbClr val="1C1A16"/>
                          </a:solidFill>
                          <a:latin typeface="Public Sans"/>
                          <a:ea typeface="Public Sans"/>
                          <a:cs typeface="Public Sans"/>
                          <a:sym typeface="Public Sans"/>
                        </a:rPr>
                        <a:t>Value</a:t>
                      </a:r>
                      <a:endParaRPr sz="1500" u="none" cap="none" strike="noStrike">
                        <a:latin typeface="Public Sans"/>
                        <a:ea typeface="Public Sans"/>
                        <a:cs typeface="Public Sans"/>
                        <a:sym typeface="Public Sans"/>
                      </a:endParaRPr>
                    </a:p>
                  </a:txBody>
                  <a:tcPr marT="66675" marB="66675" marR="66675" marL="66675">
                    <a:lnL cap="flat" cmpd="sng" w="12700">
                      <a:solidFill>
                        <a:srgbClr val="B9B5AC"/>
                      </a:solidFill>
                      <a:prstDash val="solid"/>
                      <a:round/>
                      <a:headEnd len="sm" w="sm" type="none"/>
                      <a:tailEnd len="sm" w="sm" type="none"/>
                    </a:lnL>
                    <a:lnR cap="flat" cmpd="sng" w="12700">
                      <a:solidFill>
                        <a:srgbClr val="B9B5AC"/>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B9B5AC"/>
                      </a:solidFill>
                      <a:prstDash val="solid"/>
                      <a:round/>
                      <a:headEnd len="sm" w="sm" type="none"/>
                      <a:tailEnd len="sm" w="sm" type="none"/>
                    </a:lnB>
                    <a:solidFill>
                      <a:srgbClr val="E8E3D7"/>
                    </a:solidFill>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Swarm size</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B9B5AC"/>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100</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B9B5AC"/>
                      </a:solidFill>
                      <a:prstDash val="solid"/>
                      <a:round/>
                      <a:headEnd len="sm" w="sm" type="none"/>
                      <a:tailEnd len="sm" w="sm" type="none"/>
                    </a:lnT>
                    <a:lnB cap="flat" cmpd="sng" w="12700">
                      <a:solidFill>
                        <a:srgbClr val="C7C4B9"/>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Employed bees (50%)</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50</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Onlooker bees (50%)</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50</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Scouts</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1</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Limit</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20 cycles</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Dimension</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2</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12750">
                <a:tc>
                  <a:txBody>
                    <a:bodyPr/>
                    <a:lstStyle/>
                    <a:p>
                      <a:pPr indent="0" lvl="0" marL="0" marR="0" rtl="0" algn="l">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Max cycles</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500"/>
                        <a:buFont typeface="Public Sans"/>
                        <a:buNone/>
                      </a:pPr>
                      <a:r>
                        <a:rPr lang="en-US" sz="1500" u="none" cap="none" strike="noStrike">
                          <a:solidFill>
                            <a:srgbClr val="1C1A16"/>
                          </a:solidFill>
                          <a:latin typeface="Public Sans"/>
                          <a:ea typeface="Public Sans"/>
                          <a:cs typeface="Public Sans"/>
                          <a:sym typeface="Public Sans"/>
                        </a:rPr>
                        <a:t>100</a:t>
                      </a:r>
                      <a:endParaRPr sz="1500" u="none" cap="none" strike="noStrike">
                        <a:latin typeface="Public Sans"/>
                        <a:ea typeface="Public Sans"/>
                        <a:cs typeface="Public Sans"/>
                        <a:sym typeface="Public Sans"/>
                      </a:endParaRPr>
                    </a:p>
                  </a:txBody>
                  <a:tcPr marT="66675" marB="66675" marR="66675" marL="666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bl>
          </a:graphicData>
        </a:graphic>
      </p:graphicFrame>
      <p:sp>
        <p:nvSpPr>
          <p:cNvPr id="96" name="Google Shape;96;p5"/>
          <p:cNvSpPr/>
          <p:nvPr/>
        </p:nvSpPr>
        <p:spPr>
          <a:xfrm>
            <a:off x="5949950" y="1929061"/>
            <a:ext cx="5422900" cy="2598341"/>
          </a:xfrm>
          <a:prstGeom prst="roundRect">
            <a:avLst>
              <a:gd fmla="val 4643"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5"/>
          <p:cNvSpPr/>
          <p:nvPr/>
        </p:nvSpPr>
        <p:spPr>
          <a:xfrm>
            <a:off x="6210300" y="2189411"/>
            <a:ext cx="5049266"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Food source initialization</a:t>
            </a:r>
            <a:endParaRPr b="0" i="0" sz="2400" u="none" cap="none" strike="noStrike">
              <a:solidFill>
                <a:schemeClr val="dk1"/>
              </a:solidFill>
              <a:latin typeface="Public Sans"/>
              <a:ea typeface="Public Sans"/>
              <a:cs typeface="Public Sans"/>
              <a:sym typeface="Public Sans"/>
            </a:endParaRPr>
          </a:p>
        </p:txBody>
      </p:sp>
      <p:sp>
        <p:nvSpPr>
          <p:cNvPr id="98" name="Google Shape;98;p5"/>
          <p:cNvSpPr/>
          <p:nvPr/>
        </p:nvSpPr>
        <p:spPr>
          <a:xfrm>
            <a:off x="6210300" y="2682131"/>
            <a:ext cx="4902200" cy="657820"/>
          </a:xfrm>
          <a:prstGeom prst="roundRect">
            <a:avLst>
              <a:gd fmla="val 11584" name="adj"/>
            </a:avLst>
          </a:prstGeom>
          <a:solidFill>
            <a:srgbClr val="1C1A16"/>
          </a:solidFill>
          <a:ln>
            <a:noFill/>
          </a:ln>
        </p:spPr>
        <p:txBody>
          <a:bodyPr anchorCtr="0" anchor="t" bIns="130075" lIns="155475" spcFirstLastPara="1" rIns="19075" wrap="square" tIns="155475">
            <a:normAutofit/>
          </a:bodyPr>
          <a:lstStyle/>
          <a:p>
            <a:pPr indent="0" lvl="0" marL="0" marR="0" rtl="0" algn="l">
              <a:lnSpc>
                <a:spcPct val="14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x(i,j) = x_min,j + rand(0,1) · (x_max,j − x_min,j)</a:t>
            </a:r>
            <a:endParaRPr b="0" i="0" sz="1700" u="none" cap="none" strike="noStrike">
              <a:solidFill>
                <a:schemeClr val="dk1"/>
              </a:solidFill>
              <a:latin typeface="Public Sans"/>
              <a:ea typeface="Public Sans"/>
              <a:cs typeface="Public Sans"/>
              <a:sym typeface="Public Sans"/>
            </a:endParaRPr>
          </a:p>
        </p:txBody>
      </p:sp>
      <p:sp>
        <p:nvSpPr>
          <p:cNvPr id="99" name="Google Shape;99;p5"/>
          <p:cNvSpPr/>
          <p:nvPr/>
        </p:nvSpPr>
        <p:spPr>
          <a:xfrm>
            <a:off x="6210300" y="3466951"/>
            <a:ext cx="5049266" cy="8255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i = 1…50 food sources (one per employed bee)</a:t>
            </a:r>
            <a:endParaRPr b="0" i="0" sz="15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j = 1…2 dimensions (x1, x2)</a:t>
            </a:r>
            <a:endParaRPr b="0" i="0" sz="1500" u="none" cap="none" strike="noStrike">
              <a:solidFill>
                <a:schemeClr val="dk1"/>
              </a:solidFill>
              <a:latin typeface="Public Sans"/>
              <a:ea typeface="Public Sans"/>
              <a:cs typeface="Public Sans"/>
              <a:sym typeface="Public Sans"/>
            </a:endParaRPr>
          </a:p>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x_min = −5 and x_max = +5</a:t>
            </a:r>
            <a:endParaRPr b="0" i="0" sz="1500" u="none" cap="none" strike="noStrike">
              <a:solidFill>
                <a:schemeClr val="dk1"/>
              </a:solidFill>
              <a:latin typeface="Public Sans"/>
              <a:ea typeface="Public Sans"/>
              <a:cs typeface="Public Sans"/>
              <a:sym typeface="Public Sans"/>
            </a:endParaRPr>
          </a:p>
        </p:txBody>
      </p:sp>
      <p:sp>
        <p:nvSpPr>
          <p:cNvPr id="100" name="Google Shape;100;p5"/>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101" name="Google Shape;101;p5"/>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5</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06" name="Shape 106"/>
        <p:cNvGrpSpPr/>
        <p:nvPr/>
      </p:nvGrpSpPr>
      <p:grpSpPr>
        <a:xfrm>
          <a:off x="0" y="0"/>
          <a:ext cx="0" cy="0"/>
          <a:chOff x="0" y="0"/>
          <a:chExt cx="0" cy="0"/>
        </a:xfrm>
      </p:grpSpPr>
      <p:sp>
        <p:nvSpPr>
          <p:cNvPr id="107" name="Google Shape;107;p6"/>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STEP 3</a:t>
            </a:r>
            <a:endParaRPr b="0" i="0" sz="1400" u="none" cap="none" strike="noStrike">
              <a:solidFill>
                <a:schemeClr val="dk1"/>
              </a:solidFill>
              <a:latin typeface="Public Sans"/>
              <a:ea typeface="Public Sans"/>
              <a:cs typeface="Public Sans"/>
              <a:sym typeface="Public Sans"/>
            </a:endParaRPr>
          </a:p>
        </p:txBody>
      </p:sp>
      <p:sp>
        <p:nvSpPr>
          <p:cNvPr id="108" name="Google Shape;108;p6"/>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Employed and onlooker bees</a:t>
            </a:r>
            <a:endParaRPr sz="3800"/>
          </a:p>
        </p:txBody>
      </p:sp>
      <p:sp>
        <p:nvSpPr>
          <p:cNvPr id="109" name="Google Shape;109;p6"/>
          <p:cNvSpPr/>
          <p:nvPr/>
        </p:nvSpPr>
        <p:spPr>
          <a:xfrm>
            <a:off x="819150" y="1929061"/>
            <a:ext cx="5168900" cy="2598341"/>
          </a:xfrm>
          <a:prstGeom prst="roundRect">
            <a:avLst>
              <a:gd fmla="val 4643"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1079500" y="2189411"/>
            <a:ext cx="4787646"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Employed bee phase</a:t>
            </a:r>
            <a:endParaRPr b="0" i="0" sz="2400" u="none" cap="none" strike="noStrike">
              <a:solidFill>
                <a:schemeClr val="dk1"/>
              </a:solidFill>
              <a:latin typeface="Public Sans"/>
              <a:ea typeface="Public Sans"/>
              <a:cs typeface="Public Sans"/>
              <a:sym typeface="Public Sans"/>
            </a:endParaRPr>
          </a:p>
        </p:txBody>
      </p:sp>
      <p:sp>
        <p:nvSpPr>
          <p:cNvPr id="111" name="Google Shape;111;p6"/>
          <p:cNvSpPr/>
          <p:nvPr/>
        </p:nvSpPr>
        <p:spPr>
          <a:xfrm>
            <a:off x="1079500" y="2682131"/>
            <a:ext cx="4648200" cy="657820"/>
          </a:xfrm>
          <a:prstGeom prst="roundRect">
            <a:avLst>
              <a:gd fmla="val 11584" name="adj"/>
            </a:avLst>
          </a:prstGeom>
          <a:solidFill>
            <a:srgbClr val="1C1A16"/>
          </a:solidFill>
          <a:ln>
            <a:noFill/>
          </a:ln>
        </p:spPr>
        <p:txBody>
          <a:bodyPr anchorCtr="0" anchor="t" bIns="130075" lIns="155475" spcFirstLastPara="1" rIns="26700" wrap="square" tIns="155475">
            <a:normAutofit/>
          </a:bodyPr>
          <a:lstStyle/>
          <a:p>
            <a:pPr indent="0" lvl="0" marL="0" marR="0" rtl="0" algn="l">
              <a:lnSpc>
                <a:spcPct val="14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v(i,j) = x(i,j) + φ · (x(i,j) − x(k,j))</a:t>
            </a:r>
            <a:endParaRPr b="0" i="0" sz="1700" u="none" cap="none" strike="noStrike">
              <a:solidFill>
                <a:schemeClr val="dk1"/>
              </a:solidFill>
              <a:latin typeface="Public Sans"/>
              <a:ea typeface="Public Sans"/>
              <a:cs typeface="Public Sans"/>
              <a:sym typeface="Public Sans"/>
            </a:endParaRPr>
          </a:p>
        </p:txBody>
      </p:sp>
      <p:sp>
        <p:nvSpPr>
          <p:cNvPr id="112" name="Google Shape;112;p6"/>
          <p:cNvSpPr/>
          <p:nvPr/>
        </p:nvSpPr>
        <p:spPr>
          <a:xfrm>
            <a:off x="1163320" y="3466951"/>
            <a:ext cx="4696206" cy="825500"/>
          </a:xfrm>
          <a:prstGeom prst="rect">
            <a:avLst/>
          </a:prstGeom>
          <a:noFill/>
          <a:ln>
            <a:noFill/>
          </a:ln>
        </p:spPr>
        <p:txBody>
          <a:bodyPr anchorCtr="0" anchor="t" bIns="0" lIns="0" spcFirstLastPara="1" rIns="0" wrap="square" tIns="0">
            <a:normAutofit/>
          </a:bodyPr>
          <a:lstStyle/>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φ = rand(−1, 1)</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k = random source, k ≠ i</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Keep the better of f(x_i) and f(v_i)</a:t>
            </a:r>
            <a:endParaRPr b="0" i="0" sz="1500" u="none" cap="none" strike="noStrike">
              <a:solidFill>
                <a:schemeClr val="dk1"/>
              </a:solidFill>
              <a:latin typeface="Public Sans"/>
              <a:ea typeface="Public Sans"/>
              <a:cs typeface="Public Sans"/>
              <a:sym typeface="Public Sans"/>
            </a:endParaRPr>
          </a:p>
        </p:txBody>
      </p:sp>
      <p:sp>
        <p:nvSpPr>
          <p:cNvPr id="113" name="Google Shape;113;p6"/>
          <p:cNvSpPr/>
          <p:nvPr/>
        </p:nvSpPr>
        <p:spPr>
          <a:xfrm>
            <a:off x="6203950" y="1929061"/>
            <a:ext cx="5168900" cy="2598341"/>
          </a:xfrm>
          <a:prstGeom prst="roundRect">
            <a:avLst>
              <a:gd fmla="val 4643"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6464300" y="2189411"/>
            <a:ext cx="4787646"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Onlooker bee phase</a:t>
            </a:r>
            <a:endParaRPr b="0" i="0" sz="2400" u="none" cap="none" strike="noStrike">
              <a:solidFill>
                <a:schemeClr val="dk1"/>
              </a:solidFill>
              <a:latin typeface="Public Sans"/>
              <a:ea typeface="Public Sans"/>
              <a:cs typeface="Public Sans"/>
              <a:sym typeface="Public Sans"/>
            </a:endParaRPr>
          </a:p>
        </p:txBody>
      </p:sp>
      <p:sp>
        <p:nvSpPr>
          <p:cNvPr id="115" name="Google Shape;115;p6"/>
          <p:cNvSpPr/>
          <p:nvPr/>
        </p:nvSpPr>
        <p:spPr>
          <a:xfrm>
            <a:off x="6464300" y="2682131"/>
            <a:ext cx="4648200" cy="657820"/>
          </a:xfrm>
          <a:prstGeom prst="roundRect">
            <a:avLst>
              <a:gd fmla="val 11584" name="adj"/>
            </a:avLst>
          </a:prstGeom>
          <a:solidFill>
            <a:srgbClr val="1C1A16"/>
          </a:solidFill>
          <a:ln>
            <a:noFill/>
          </a:ln>
        </p:spPr>
        <p:txBody>
          <a:bodyPr anchorCtr="0" anchor="t" bIns="130075" lIns="155475" spcFirstLastPara="1" rIns="26700" wrap="square" tIns="155475">
            <a:normAutofit/>
          </a:bodyPr>
          <a:lstStyle/>
          <a:p>
            <a:pPr indent="0" lvl="0" marL="0" marR="0" rtl="0" algn="l">
              <a:lnSpc>
                <a:spcPct val="14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P(x_i) = fit(x_i) / Σ fit(x_i)</a:t>
            </a:r>
            <a:endParaRPr b="0" i="0" sz="1700" u="none" cap="none" strike="noStrike">
              <a:solidFill>
                <a:schemeClr val="dk1"/>
              </a:solidFill>
              <a:latin typeface="Public Sans"/>
              <a:ea typeface="Public Sans"/>
              <a:cs typeface="Public Sans"/>
              <a:sym typeface="Public Sans"/>
            </a:endParaRPr>
          </a:p>
        </p:txBody>
      </p:sp>
      <p:sp>
        <p:nvSpPr>
          <p:cNvPr id="116" name="Google Shape;116;p6"/>
          <p:cNvSpPr/>
          <p:nvPr/>
        </p:nvSpPr>
        <p:spPr>
          <a:xfrm>
            <a:off x="6548120" y="3466951"/>
            <a:ext cx="4696206" cy="825500"/>
          </a:xfrm>
          <a:prstGeom prst="rect">
            <a:avLst/>
          </a:prstGeom>
          <a:noFill/>
          <a:ln>
            <a:noFill/>
          </a:ln>
        </p:spPr>
        <p:txBody>
          <a:bodyPr anchorCtr="0" anchor="t" bIns="0" lIns="0" spcFirstLastPara="1" rIns="0" wrap="square" tIns="0">
            <a:normAutofit/>
          </a:bodyPr>
          <a:lstStyle/>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Roulette wheel picks a source by P</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Evolve it exactly like an employed bee</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fit = 1/(1+f): lower Ackley value, bigger slice</a:t>
            </a:r>
            <a:endParaRPr b="0" i="0" sz="1500" u="none" cap="none" strike="noStrike">
              <a:solidFill>
                <a:schemeClr val="dk1"/>
              </a:solidFill>
              <a:latin typeface="Public Sans"/>
              <a:ea typeface="Public Sans"/>
              <a:cs typeface="Public Sans"/>
              <a:sym typeface="Public Sans"/>
            </a:endParaRPr>
          </a:p>
        </p:txBody>
      </p:sp>
      <p:sp>
        <p:nvSpPr>
          <p:cNvPr id="117" name="Google Shape;117;p6"/>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118" name="Google Shape;118;p6"/>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6</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23" name="Shape 123"/>
        <p:cNvGrpSpPr/>
        <p:nvPr/>
      </p:nvGrpSpPr>
      <p:grpSpPr>
        <a:xfrm>
          <a:off x="0" y="0"/>
          <a:ext cx="0" cy="0"/>
          <a:chOff x="0" y="0"/>
          <a:chExt cx="0" cy="0"/>
        </a:xfrm>
      </p:grpSpPr>
      <p:sp>
        <p:nvSpPr>
          <p:cNvPr id="124" name="Google Shape;124;p7"/>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STEPS 3 AND 4</a:t>
            </a:r>
            <a:endParaRPr b="0" i="0" sz="1400" u="none" cap="none" strike="noStrike">
              <a:solidFill>
                <a:schemeClr val="dk1"/>
              </a:solidFill>
              <a:latin typeface="Public Sans"/>
              <a:ea typeface="Public Sans"/>
              <a:cs typeface="Public Sans"/>
              <a:sym typeface="Public Sans"/>
            </a:endParaRPr>
          </a:p>
        </p:txBody>
      </p:sp>
      <p:sp>
        <p:nvSpPr>
          <p:cNvPr id="125" name="Google Shape;125;p7"/>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Scouts, memory and stopping</a:t>
            </a:r>
            <a:endParaRPr sz="3800"/>
          </a:p>
        </p:txBody>
      </p:sp>
      <p:sp>
        <p:nvSpPr>
          <p:cNvPr id="126" name="Google Shape;126;p7"/>
          <p:cNvSpPr/>
          <p:nvPr/>
        </p:nvSpPr>
        <p:spPr>
          <a:xfrm>
            <a:off x="819150" y="1929061"/>
            <a:ext cx="5168900" cy="3167261"/>
          </a:xfrm>
          <a:prstGeom prst="roundRect">
            <a:avLst>
              <a:gd fmla="val 3809"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1079500" y="2189411"/>
            <a:ext cx="4787646"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Scout bee phase</a:t>
            </a:r>
            <a:endParaRPr b="0" i="0" sz="2400" u="none" cap="none" strike="noStrike">
              <a:solidFill>
                <a:schemeClr val="dk1"/>
              </a:solidFill>
              <a:latin typeface="Public Sans"/>
              <a:ea typeface="Public Sans"/>
              <a:cs typeface="Public Sans"/>
              <a:sym typeface="Public Sans"/>
            </a:endParaRPr>
          </a:p>
        </p:txBody>
      </p:sp>
      <p:sp>
        <p:nvSpPr>
          <p:cNvPr id="128" name="Google Shape;128;p7"/>
          <p:cNvSpPr/>
          <p:nvPr/>
        </p:nvSpPr>
        <p:spPr>
          <a:xfrm>
            <a:off x="1079500" y="2682131"/>
            <a:ext cx="4648200" cy="960041"/>
          </a:xfrm>
          <a:prstGeom prst="roundRect">
            <a:avLst>
              <a:gd fmla="val 7937" name="adj"/>
            </a:avLst>
          </a:prstGeom>
          <a:solidFill>
            <a:srgbClr val="1C1A16"/>
          </a:solidFill>
          <a:ln>
            <a:noFill/>
          </a:ln>
        </p:spPr>
        <p:txBody>
          <a:bodyPr anchorCtr="0" anchor="t" bIns="130075" lIns="155475" spcFirstLastPara="1" rIns="26700" wrap="square" tIns="155475">
            <a:normAutofit/>
          </a:bodyPr>
          <a:lstStyle/>
          <a:p>
            <a:pPr indent="0" lvl="0" marL="0" marR="0" rtl="0" algn="l">
              <a:lnSpc>
                <a:spcPct val="14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x(i,j) = x_min,j + rand(0,1) · (x_max,j − x_min,j)</a:t>
            </a:r>
            <a:endParaRPr b="0" i="0" sz="1700" u="none" cap="none" strike="noStrike">
              <a:solidFill>
                <a:schemeClr val="dk1"/>
              </a:solidFill>
              <a:latin typeface="Public Sans"/>
              <a:ea typeface="Public Sans"/>
              <a:cs typeface="Public Sans"/>
              <a:sym typeface="Public Sans"/>
            </a:endParaRPr>
          </a:p>
        </p:txBody>
      </p:sp>
      <p:sp>
        <p:nvSpPr>
          <p:cNvPr id="129" name="Google Shape;129;p7"/>
          <p:cNvSpPr/>
          <p:nvPr/>
        </p:nvSpPr>
        <p:spPr>
          <a:xfrm>
            <a:off x="1163320" y="3769171"/>
            <a:ext cx="4696206" cy="1092200"/>
          </a:xfrm>
          <a:prstGeom prst="rect">
            <a:avLst/>
          </a:prstGeom>
          <a:noFill/>
          <a:ln>
            <a:noFill/>
          </a:ln>
        </p:spPr>
        <p:txBody>
          <a:bodyPr anchorCtr="0" anchor="t" bIns="0" lIns="0" spcFirstLastPara="1" rIns="0" wrap="square" tIns="0">
            <a:normAutofit/>
          </a:bodyPr>
          <a:lstStyle/>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A source not improved for limit = 20 cycles is abandoned</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Its bee becomes a scout and restarts at a random position</a:t>
            </a:r>
            <a:endParaRPr b="0" i="0" sz="1500" u="none" cap="none" strike="noStrike">
              <a:solidFill>
                <a:schemeClr val="dk1"/>
              </a:solidFill>
              <a:latin typeface="Public Sans"/>
              <a:ea typeface="Public Sans"/>
              <a:cs typeface="Public Sans"/>
              <a:sym typeface="Public Sans"/>
            </a:endParaRPr>
          </a:p>
        </p:txBody>
      </p:sp>
      <p:sp>
        <p:nvSpPr>
          <p:cNvPr id="130" name="Google Shape;130;p7"/>
          <p:cNvSpPr/>
          <p:nvPr/>
        </p:nvSpPr>
        <p:spPr>
          <a:xfrm>
            <a:off x="6203950" y="1929061"/>
            <a:ext cx="5168900" cy="3167261"/>
          </a:xfrm>
          <a:prstGeom prst="roundRect">
            <a:avLst>
              <a:gd fmla="val 3809" name="adj"/>
            </a:avLst>
          </a:prstGeom>
          <a:solidFill>
            <a:srgbClr val="FFFCF3"/>
          </a:solidFill>
          <a:ln cap="flat" cmpd="sng" w="12700">
            <a:solidFill>
              <a:srgbClr val="E6DC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6464300" y="2189411"/>
            <a:ext cx="4787646"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8A5A00"/>
              </a:buClr>
              <a:buSzPts val="2400"/>
              <a:buFont typeface="Oswald"/>
              <a:buNone/>
            </a:pPr>
            <a:r>
              <a:rPr b="1" i="0" lang="en-US" sz="2400" u="none" cap="none" strike="noStrike">
                <a:solidFill>
                  <a:srgbClr val="8A5A00"/>
                </a:solidFill>
                <a:latin typeface="Oswald"/>
                <a:ea typeface="Oswald"/>
                <a:cs typeface="Oswald"/>
                <a:sym typeface="Oswald"/>
              </a:rPr>
              <a:t>Memorize and stop</a:t>
            </a:r>
            <a:endParaRPr b="0" i="0" sz="2400" u="none" cap="none" strike="noStrike">
              <a:solidFill>
                <a:schemeClr val="dk1"/>
              </a:solidFill>
              <a:latin typeface="Public Sans"/>
              <a:ea typeface="Public Sans"/>
              <a:cs typeface="Public Sans"/>
              <a:sym typeface="Public Sans"/>
            </a:endParaRPr>
          </a:p>
        </p:txBody>
      </p:sp>
      <p:sp>
        <p:nvSpPr>
          <p:cNvPr id="132" name="Google Shape;132;p7"/>
          <p:cNvSpPr/>
          <p:nvPr/>
        </p:nvSpPr>
        <p:spPr>
          <a:xfrm>
            <a:off x="6464300" y="2682131"/>
            <a:ext cx="4648200" cy="657820"/>
          </a:xfrm>
          <a:prstGeom prst="roundRect">
            <a:avLst>
              <a:gd fmla="val 11584" name="adj"/>
            </a:avLst>
          </a:prstGeom>
          <a:solidFill>
            <a:srgbClr val="1C1A16"/>
          </a:solidFill>
          <a:ln>
            <a:noFill/>
          </a:ln>
        </p:spPr>
        <p:txBody>
          <a:bodyPr anchorCtr="0" anchor="t" bIns="130075" lIns="155475" spcFirstLastPara="1" rIns="26700" wrap="square" tIns="155475">
            <a:normAutofit/>
          </a:bodyPr>
          <a:lstStyle/>
          <a:p>
            <a:pPr indent="0" lvl="0" marL="0" marR="0" rtl="0" algn="l">
              <a:lnSpc>
                <a:spcPct val="140000"/>
              </a:lnSpc>
              <a:spcBef>
                <a:spcPts val="0"/>
              </a:spcBef>
              <a:spcAft>
                <a:spcPts val="0"/>
              </a:spcAft>
              <a:buClr>
                <a:srgbClr val="FAF5E8"/>
              </a:buClr>
              <a:buSzPts val="1700"/>
              <a:buFont typeface="Public Sans"/>
              <a:buNone/>
            </a:pPr>
            <a:r>
              <a:rPr b="1" i="0" lang="en-US" sz="1700" u="none" cap="none" strike="noStrike">
                <a:solidFill>
                  <a:srgbClr val="FAF5E8"/>
                </a:solidFill>
                <a:latin typeface="Public Sans"/>
                <a:ea typeface="Public Sans"/>
                <a:cs typeface="Public Sans"/>
                <a:sym typeface="Public Sans"/>
              </a:rPr>
              <a:t>stop when f ≤ 1e-6 or cycle = 100</a:t>
            </a:r>
            <a:endParaRPr b="0" i="0" sz="1700" u="none" cap="none" strike="noStrike">
              <a:solidFill>
                <a:schemeClr val="dk1"/>
              </a:solidFill>
              <a:latin typeface="Public Sans"/>
              <a:ea typeface="Public Sans"/>
              <a:cs typeface="Public Sans"/>
              <a:sym typeface="Public Sans"/>
            </a:endParaRPr>
          </a:p>
        </p:txBody>
      </p:sp>
      <p:sp>
        <p:nvSpPr>
          <p:cNvPr id="133" name="Google Shape;133;p7"/>
          <p:cNvSpPr/>
          <p:nvPr/>
        </p:nvSpPr>
        <p:spPr>
          <a:xfrm>
            <a:off x="6548120" y="3466951"/>
            <a:ext cx="4696206" cy="825500"/>
          </a:xfrm>
          <a:prstGeom prst="rect">
            <a:avLst/>
          </a:prstGeom>
          <a:noFill/>
          <a:ln>
            <a:noFill/>
          </a:ln>
        </p:spPr>
        <p:txBody>
          <a:bodyPr anchorCtr="0" anchor="t" bIns="0" lIns="0" spcFirstLastPara="1" rIns="0" wrap="square" tIns="0">
            <a:normAutofit/>
          </a:bodyPr>
          <a:lstStyle/>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The best solution found so far is memorized every cycle</a:t>
            </a:r>
            <a:endParaRPr b="0" i="0" sz="1500" u="none" cap="none" strike="noStrike">
              <a:solidFill>
                <a:schemeClr val="dk1"/>
              </a:solidFill>
              <a:latin typeface="Public Sans"/>
              <a:ea typeface="Public Sans"/>
              <a:cs typeface="Public Sans"/>
              <a:sym typeface="Public Sans"/>
            </a:endParaRPr>
          </a:p>
          <a:p>
            <a:pPr indent="-170180" lvl="0" marL="170180" marR="0" rtl="0" algn="l">
              <a:lnSpc>
                <a:spcPct val="140000"/>
              </a:lnSpc>
              <a:spcBef>
                <a:spcPts val="0"/>
              </a:spcBef>
              <a:spcAft>
                <a:spcPts val="0"/>
              </a:spcAft>
              <a:buClr>
                <a:srgbClr val="3D382D"/>
              </a:buClr>
              <a:buSzPts val="1500"/>
              <a:buFont typeface="Public Sans"/>
              <a:buChar char="•"/>
            </a:pPr>
            <a:r>
              <a:rPr b="0" i="0" lang="en-US" sz="1500" u="none" cap="none" strike="noStrike">
                <a:solidFill>
                  <a:srgbClr val="3D382D"/>
                </a:solidFill>
                <a:latin typeface="Public Sans"/>
                <a:ea typeface="Public Sans"/>
                <a:cs typeface="Public Sans"/>
                <a:sym typeface="Public Sans"/>
              </a:rPr>
              <a:t>So the best value never gets worse</a:t>
            </a:r>
            <a:endParaRPr b="0" i="0" sz="1500" u="none" cap="none" strike="noStrike">
              <a:solidFill>
                <a:schemeClr val="dk1"/>
              </a:solidFill>
              <a:latin typeface="Public Sans"/>
              <a:ea typeface="Public Sans"/>
              <a:cs typeface="Public Sans"/>
              <a:sym typeface="Public Sans"/>
            </a:endParaRPr>
          </a:p>
        </p:txBody>
      </p:sp>
      <p:sp>
        <p:nvSpPr>
          <p:cNvPr id="134" name="Google Shape;134;p7"/>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135" name="Google Shape;135;p7"/>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7</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40" name="Shape 140"/>
        <p:cNvGrpSpPr/>
        <p:nvPr/>
      </p:nvGrpSpPr>
      <p:grpSpPr>
        <a:xfrm>
          <a:off x="0" y="0"/>
          <a:ext cx="0" cy="0"/>
          <a:chOff x="0" y="0"/>
          <a:chExt cx="0" cy="0"/>
        </a:xfrm>
      </p:grpSpPr>
      <p:sp>
        <p:nvSpPr>
          <p:cNvPr id="141" name="Google Shape;141;p8"/>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RESULTS</a:t>
            </a:r>
            <a:endParaRPr b="0" i="0" sz="1400" u="none" cap="none" strike="noStrike">
              <a:solidFill>
                <a:schemeClr val="dk1"/>
              </a:solidFill>
              <a:latin typeface="Public Sans"/>
              <a:ea typeface="Public Sans"/>
              <a:cs typeface="Public Sans"/>
              <a:sym typeface="Public Sans"/>
            </a:endParaRPr>
          </a:p>
        </p:txBody>
      </p:sp>
      <p:sp>
        <p:nvSpPr>
          <p:cNvPr id="142" name="Google Shape;142;p8"/>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The swarm moves to (0, 0)</a:t>
            </a:r>
            <a:endParaRPr sz="3800"/>
          </a:p>
        </p:txBody>
      </p:sp>
      <p:pic>
        <p:nvPicPr>
          <p:cNvPr descr="Food sources scattered randomly over the Ackley surface at cycle 0" id="143" name="Google Shape;143;p8"/>
          <p:cNvPicPr preferRelativeResize="0"/>
          <p:nvPr/>
        </p:nvPicPr>
        <p:blipFill rotWithShape="1">
          <a:blip r:embed="rId3">
            <a:alphaModFix/>
          </a:blip>
          <a:srcRect b="0" l="0" r="0" t="0"/>
          <a:stretch/>
        </p:blipFill>
        <p:spPr>
          <a:xfrm>
            <a:off x="812800" y="1922711"/>
            <a:ext cx="3302000" cy="2794000"/>
          </a:xfrm>
          <a:prstGeom prst="roundRect">
            <a:avLst>
              <a:gd fmla="val 2727" name="adj"/>
            </a:avLst>
          </a:prstGeom>
          <a:noFill/>
          <a:ln>
            <a:noFill/>
          </a:ln>
        </p:spPr>
      </p:pic>
      <p:sp>
        <p:nvSpPr>
          <p:cNvPr id="144" name="Google Shape;144;p8"/>
          <p:cNvSpPr/>
          <p:nvPr/>
        </p:nvSpPr>
        <p:spPr>
          <a:xfrm>
            <a:off x="812800" y="4818311"/>
            <a:ext cx="340106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Cycle 0 · best f = 4.3193</a:t>
            </a:r>
            <a:endParaRPr b="0" i="0" sz="1500" u="none" cap="none" strike="noStrike">
              <a:solidFill>
                <a:schemeClr val="dk1"/>
              </a:solidFill>
              <a:latin typeface="Public Sans"/>
              <a:ea typeface="Public Sans"/>
              <a:cs typeface="Public Sans"/>
              <a:sym typeface="Public Sans"/>
            </a:endParaRPr>
          </a:p>
        </p:txBody>
      </p:sp>
      <p:pic>
        <p:nvPicPr>
          <p:cNvPr descr="Food sources gathering near the center at cycle 8" id="145" name="Google Shape;145;p8"/>
          <p:cNvPicPr preferRelativeResize="0"/>
          <p:nvPr/>
        </p:nvPicPr>
        <p:blipFill rotWithShape="1">
          <a:blip r:embed="rId4">
            <a:alphaModFix/>
          </a:blip>
          <a:srcRect b="0" l="0" r="0" t="0"/>
          <a:stretch/>
        </p:blipFill>
        <p:spPr>
          <a:xfrm>
            <a:off x="4445000" y="1922711"/>
            <a:ext cx="3302000" cy="2794000"/>
          </a:xfrm>
          <a:prstGeom prst="roundRect">
            <a:avLst>
              <a:gd fmla="val 2727" name="adj"/>
            </a:avLst>
          </a:prstGeom>
          <a:noFill/>
          <a:ln>
            <a:noFill/>
          </a:ln>
        </p:spPr>
      </p:pic>
      <p:sp>
        <p:nvSpPr>
          <p:cNvPr id="146" name="Google Shape;146;p8"/>
          <p:cNvSpPr/>
          <p:nvPr/>
        </p:nvSpPr>
        <p:spPr>
          <a:xfrm>
            <a:off x="4445000" y="4818311"/>
            <a:ext cx="340106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Cycle 8 · best f = 0.0119</a:t>
            </a:r>
            <a:endParaRPr b="0" i="0" sz="1500" u="none" cap="none" strike="noStrike">
              <a:solidFill>
                <a:schemeClr val="dk1"/>
              </a:solidFill>
              <a:latin typeface="Public Sans"/>
              <a:ea typeface="Public Sans"/>
              <a:cs typeface="Public Sans"/>
              <a:sym typeface="Public Sans"/>
            </a:endParaRPr>
          </a:p>
        </p:txBody>
      </p:sp>
      <p:pic>
        <p:nvPicPr>
          <p:cNvPr descr="Most food sources clustered at the global minimum at cycle 25" id="147" name="Google Shape;147;p8"/>
          <p:cNvPicPr preferRelativeResize="0"/>
          <p:nvPr/>
        </p:nvPicPr>
        <p:blipFill rotWithShape="1">
          <a:blip r:embed="rId5">
            <a:alphaModFix/>
          </a:blip>
          <a:srcRect b="0" l="0" r="0" t="0"/>
          <a:stretch/>
        </p:blipFill>
        <p:spPr>
          <a:xfrm>
            <a:off x="8077200" y="1922711"/>
            <a:ext cx="3302000" cy="2794000"/>
          </a:xfrm>
          <a:prstGeom prst="roundRect">
            <a:avLst>
              <a:gd fmla="val 2727" name="adj"/>
            </a:avLst>
          </a:prstGeom>
          <a:noFill/>
          <a:ln>
            <a:noFill/>
          </a:ln>
        </p:spPr>
      </p:pic>
      <p:sp>
        <p:nvSpPr>
          <p:cNvPr id="148" name="Google Shape;148;p8"/>
          <p:cNvSpPr/>
          <p:nvPr/>
        </p:nvSpPr>
        <p:spPr>
          <a:xfrm>
            <a:off x="8077200" y="4818311"/>
            <a:ext cx="3401060" cy="2921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Cycle 25 · best f = 0.00013</a:t>
            </a:r>
            <a:endParaRPr b="0" i="0" sz="1500" u="none" cap="none" strike="noStrike">
              <a:solidFill>
                <a:schemeClr val="dk1"/>
              </a:solidFill>
              <a:latin typeface="Public Sans"/>
              <a:ea typeface="Public Sans"/>
              <a:cs typeface="Public Sans"/>
              <a:sym typeface="Public Sans"/>
            </a:endParaRPr>
          </a:p>
        </p:txBody>
      </p:sp>
      <p:sp>
        <p:nvSpPr>
          <p:cNvPr id="149" name="Google Shape;149;p8"/>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150" name="Google Shape;150;p8"/>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8</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55" name="Shape 155"/>
        <p:cNvGrpSpPr/>
        <p:nvPr/>
      </p:nvGrpSpPr>
      <p:grpSpPr>
        <a:xfrm>
          <a:off x="0" y="0"/>
          <a:ext cx="0" cy="0"/>
          <a:chOff x="0" y="0"/>
          <a:chExt cx="0" cy="0"/>
        </a:xfrm>
      </p:grpSpPr>
      <p:sp>
        <p:nvSpPr>
          <p:cNvPr id="156" name="Google Shape;156;h4fd6c64567bb97b5_0_0"/>
          <p:cNvSpPr/>
          <p:nvPr/>
        </p:nvSpPr>
        <p:spPr>
          <a:xfrm>
            <a:off x="812800" y="812800"/>
            <a:ext cx="108834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RESULTS</a:t>
            </a:r>
            <a:endParaRPr b="0" i="0" sz="1400" u="none" cap="none" strike="noStrike">
              <a:solidFill>
                <a:schemeClr val="dk1"/>
              </a:solidFill>
              <a:latin typeface="Public Sans"/>
              <a:ea typeface="Public Sans"/>
              <a:cs typeface="Public Sans"/>
              <a:sym typeface="Public Sans"/>
            </a:endParaRPr>
          </a:p>
        </p:txBody>
      </p:sp>
      <p:sp>
        <p:nvSpPr>
          <p:cNvPr id="157" name="Google Shape;157;h4fd6c64567bb97b5_0_0"/>
          <p:cNvSpPr txBox="1"/>
          <p:nvPr>
            <p:ph type="title"/>
          </p:nvPr>
        </p:nvSpPr>
        <p:spPr>
          <a:xfrm>
            <a:off x="812800" y="452090"/>
            <a:ext cx="10883400" cy="556200"/>
          </a:xfrm>
          <a:prstGeom prst="rect">
            <a:avLst/>
          </a:prstGeom>
          <a:noFill/>
          <a:ln>
            <a:noFill/>
          </a:ln>
        </p:spPr>
        <p:txBody>
          <a:bodyPr anchorCtr="0" anchor="t" bIns="0" lIns="0" spcFirstLastPara="1" rIns="0" wrap="square" tIns="0">
            <a:normAutofit fontScale="90000"/>
          </a:bodyPr>
          <a:lstStyle/>
          <a:p>
            <a:pPr indent="0" lvl="0" marL="0" rtl="0" algn="r">
              <a:lnSpc>
                <a:spcPct val="110000"/>
              </a:lnSpc>
              <a:spcBef>
                <a:spcPts val="0"/>
              </a:spcBef>
              <a:spcAft>
                <a:spcPts val="0"/>
              </a:spcAft>
              <a:buClr>
                <a:srgbClr val="1C1A16"/>
              </a:buClr>
              <a:buSzPct val="100000"/>
              <a:buFont typeface="Oswald"/>
              <a:buNone/>
            </a:pPr>
            <a:r>
              <a:rPr b="1" i="0" lang="en-US" sz="3800">
                <a:solidFill>
                  <a:srgbClr val="1C1A16"/>
                </a:solidFill>
                <a:latin typeface="Oswald"/>
                <a:ea typeface="Oswald"/>
                <a:cs typeface="Oswald"/>
                <a:sym typeface="Oswald"/>
              </a:rPr>
              <a:t>The swarm moves to (0, 0)</a:t>
            </a:r>
            <a:endParaRPr sz="3800"/>
          </a:p>
        </p:txBody>
      </p:sp>
      <p:sp>
        <p:nvSpPr>
          <p:cNvPr id="158" name="Google Shape;158;h4fd6c64567bb97b5_0_0"/>
          <p:cNvSpPr/>
          <p:nvPr/>
        </p:nvSpPr>
        <p:spPr>
          <a:xfrm>
            <a:off x="812800" y="6238280"/>
            <a:ext cx="6540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159" name="Google Shape;159;h4fd6c64567bb97b5_0_0"/>
          <p:cNvSpPr/>
          <p:nvPr/>
        </p:nvSpPr>
        <p:spPr>
          <a:xfrm>
            <a:off x="10566400" y="6238280"/>
            <a:ext cx="8127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A5446"/>
              </a:buClr>
              <a:buSzPts val="1200"/>
              <a:buFont typeface="Public Sans"/>
              <a:buNone/>
            </a:pPr>
            <a:r>
              <a:rPr lang="en-US" sz="1200">
                <a:solidFill>
                  <a:srgbClr val="5A5446"/>
                </a:solidFill>
                <a:latin typeface="Public Sans"/>
                <a:ea typeface="Public Sans"/>
                <a:cs typeface="Public Sans"/>
                <a:sym typeface="Public Sans"/>
              </a:rPr>
              <a:t>9</a:t>
            </a:r>
            <a:endParaRPr b="0" i="0" sz="1200" u="none" cap="none" strike="noStrike">
              <a:solidFill>
                <a:schemeClr val="dk1"/>
              </a:solidFill>
              <a:latin typeface="Public Sans"/>
              <a:ea typeface="Public Sans"/>
              <a:cs typeface="Public Sans"/>
              <a:sym typeface="Public Sans"/>
            </a:endParaRPr>
          </a:p>
        </p:txBody>
      </p:sp>
      <p:pic>
        <p:nvPicPr>
          <p:cNvPr id="160" name="Google Shape;160;h4fd6c64567bb97b5_0_0" title="evolution.gif"/>
          <p:cNvPicPr preferRelativeResize="0"/>
          <p:nvPr/>
        </p:nvPicPr>
        <p:blipFill>
          <a:blip r:embed="rId3">
            <a:alphaModFix/>
          </a:blip>
          <a:stretch>
            <a:fillRect/>
          </a:stretch>
        </p:blipFill>
        <p:spPr>
          <a:xfrm>
            <a:off x="3110300" y="1008300"/>
            <a:ext cx="5947350" cy="5032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65" name="Shape 165"/>
        <p:cNvGrpSpPr/>
        <p:nvPr/>
      </p:nvGrpSpPr>
      <p:grpSpPr>
        <a:xfrm>
          <a:off x="0" y="0"/>
          <a:ext cx="0" cy="0"/>
          <a:chOff x="0" y="0"/>
          <a:chExt cx="0" cy="0"/>
        </a:xfrm>
      </p:grpSpPr>
      <p:sp>
        <p:nvSpPr>
          <p:cNvPr id="166" name="Google Shape;166;p9"/>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RESULTS</a:t>
            </a:r>
            <a:endParaRPr b="0" i="0" sz="1400" u="none" cap="none" strike="noStrike">
              <a:solidFill>
                <a:schemeClr val="dk1"/>
              </a:solidFill>
              <a:latin typeface="Public Sans"/>
              <a:ea typeface="Public Sans"/>
              <a:cs typeface="Public Sans"/>
              <a:sym typeface="Public Sans"/>
            </a:endParaRPr>
          </a:p>
        </p:txBody>
      </p:sp>
      <p:sp>
        <p:nvSpPr>
          <p:cNvPr id="167" name="Google Shape;167;p9"/>
          <p:cNvSpPr txBox="1"/>
          <p:nvPr>
            <p:ph type="title"/>
          </p:nvPr>
        </p:nvSpPr>
        <p:spPr>
          <a:xfrm>
            <a:off x="812800" y="1061690"/>
            <a:ext cx="10883400" cy="5562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1A16"/>
              </a:buClr>
              <a:buSzPct val="100000"/>
              <a:buFont typeface="Oswald"/>
              <a:buNone/>
            </a:pPr>
            <a:r>
              <a:rPr b="1" i="0" lang="en-US" sz="3800">
                <a:solidFill>
                  <a:srgbClr val="1C1A16"/>
                </a:solidFill>
                <a:latin typeface="Oswald"/>
                <a:ea typeface="Oswald"/>
                <a:cs typeface="Oswald"/>
                <a:sym typeface="Oswald"/>
              </a:rPr>
              <a:t>Convergence to the global minimum</a:t>
            </a:r>
            <a:endParaRPr sz="3800"/>
          </a:p>
        </p:txBody>
      </p:sp>
      <p:pic>
        <p:nvPicPr>
          <p:cNvPr descr="Line chart of best and mean Ackley value per cycle falling toward zero" id="168" name="Google Shape;168;p9"/>
          <p:cNvPicPr preferRelativeResize="0"/>
          <p:nvPr/>
        </p:nvPicPr>
        <p:blipFill rotWithShape="1">
          <a:blip r:embed="rId3">
            <a:alphaModFix/>
          </a:blip>
          <a:srcRect b="0" l="-181" r="-181" t="0"/>
          <a:stretch/>
        </p:blipFill>
        <p:spPr>
          <a:xfrm>
            <a:off x="825500" y="1706798"/>
            <a:ext cx="6838200" cy="4258800"/>
          </a:xfrm>
          <a:prstGeom prst="roundRect">
            <a:avLst>
              <a:gd fmla="val 1792" name="adj"/>
            </a:avLst>
          </a:prstGeom>
          <a:noFill/>
          <a:ln>
            <a:noFill/>
          </a:ln>
        </p:spPr>
      </p:pic>
      <p:sp>
        <p:nvSpPr>
          <p:cNvPr id="169" name="Google Shape;169;p9"/>
          <p:cNvSpPr/>
          <p:nvPr/>
        </p:nvSpPr>
        <p:spPr>
          <a:xfrm>
            <a:off x="8051800" y="2118320"/>
            <a:ext cx="4683000" cy="6402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8A5A00"/>
              </a:buClr>
              <a:buSzPts val="4400"/>
              <a:buFont typeface="Oswald"/>
              <a:buNone/>
            </a:pPr>
            <a:r>
              <a:rPr b="1" i="0" lang="en-US" sz="4400" u="none" cap="none" strike="noStrike">
                <a:solidFill>
                  <a:srgbClr val="8A5A00"/>
                </a:solidFill>
                <a:latin typeface="Oswald"/>
                <a:ea typeface="Oswald"/>
                <a:cs typeface="Oswald"/>
                <a:sym typeface="Oswald"/>
              </a:rPr>
              <a:t>52</a:t>
            </a:r>
            <a:endParaRPr b="0" i="0" sz="4400" u="none" cap="none" strike="noStrike">
              <a:solidFill>
                <a:schemeClr val="dk1"/>
              </a:solidFill>
              <a:latin typeface="Public Sans"/>
              <a:ea typeface="Public Sans"/>
              <a:cs typeface="Public Sans"/>
              <a:sym typeface="Public Sans"/>
            </a:endParaRPr>
          </a:p>
        </p:txBody>
      </p:sp>
      <p:sp>
        <p:nvSpPr>
          <p:cNvPr id="170" name="Google Shape;170;p9"/>
          <p:cNvSpPr/>
          <p:nvPr/>
        </p:nvSpPr>
        <p:spPr>
          <a:xfrm>
            <a:off x="8051800" y="2758380"/>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cycles to reach f ≤ 1e-6</a:t>
            </a:r>
            <a:endParaRPr b="0" i="0" sz="1500" u="none" cap="none" strike="noStrike">
              <a:solidFill>
                <a:schemeClr val="dk1"/>
              </a:solidFill>
              <a:latin typeface="Public Sans"/>
              <a:ea typeface="Public Sans"/>
              <a:cs typeface="Public Sans"/>
              <a:sym typeface="Public Sans"/>
            </a:endParaRPr>
          </a:p>
        </p:txBody>
      </p:sp>
      <p:sp>
        <p:nvSpPr>
          <p:cNvPr id="171" name="Google Shape;171;p9"/>
          <p:cNvSpPr/>
          <p:nvPr/>
        </p:nvSpPr>
        <p:spPr>
          <a:xfrm>
            <a:off x="8051800" y="3253680"/>
            <a:ext cx="4683000" cy="6402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8A5A00"/>
              </a:buClr>
              <a:buSzPts val="4400"/>
              <a:buFont typeface="Oswald"/>
              <a:buNone/>
            </a:pPr>
            <a:r>
              <a:rPr b="1" i="0" lang="en-US" sz="4400" u="none" cap="none" strike="noStrike">
                <a:solidFill>
                  <a:srgbClr val="8A5A00"/>
                </a:solidFill>
                <a:latin typeface="Oswald"/>
                <a:ea typeface="Oswald"/>
                <a:cs typeface="Oswald"/>
                <a:sym typeface="Oswald"/>
              </a:rPr>
              <a:t>3.4e-7</a:t>
            </a:r>
            <a:endParaRPr b="0" i="0" sz="4400" u="none" cap="none" strike="noStrike">
              <a:solidFill>
                <a:schemeClr val="dk1"/>
              </a:solidFill>
              <a:latin typeface="Public Sans"/>
              <a:ea typeface="Public Sans"/>
              <a:cs typeface="Public Sans"/>
              <a:sym typeface="Public Sans"/>
            </a:endParaRPr>
          </a:p>
        </p:txBody>
      </p:sp>
      <p:sp>
        <p:nvSpPr>
          <p:cNvPr id="172" name="Google Shape;172;p9"/>
          <p:cNvSpPr/>
          <p:nvPr/>
        </p:nvSpPr>
        <p:spPr>
          <a:xfrm>
            <a:off x="8051800" y="3893741"/>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best value found (true minimum is 0)</a:t>
            </a:r>
            <a:endParaRPr b="0" i="0" sz="1500" u="none" cap="none" strike="noStrike">
              <a:solidFill>
                <a:schemeClr val="dk1"/>
              </a:solidFill>
              <a:latin typeface="Public Sans"/>
              <a:ea typeface="Public Sans"/>
              <a:cs typeface="Public Sans"/>
              <a:sym typeface="Public Sans"/>
            </a:endParaRPr>
          </a:p>
        </p:txBody>
      </p:sp>
      <p:sp>
        <p:nvSpPr>
          <p:cNvPr id="173" name="Google Shape;173;p9"/>
          <p:cNvSpPr/>
          <p:nvPr/>
        </p:nvSpPr>
        <p:spPr>
          <a:xfrm>
            <a:off x="8051800" y="4389041"/>
            <a:ext cx="4683000" cy="6402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8A5A00"/>
              </a:buClr>
              <a:buSzPts val="4400"/>
              <a:buFont typeface="Oswald"/>
              <a:buNone/>
            </a:pPr>
            <a:r>
              <a:rPr b="1" i="0" lang="en-US" sz="4400" u="none" cap="none" strike="noStrike">
                <a:solidFill>
                  <a:srgbClr val="8A5A00"/>
                </a:solidFill>
                <a:latin typeface="Oswald"/>
                <a:ea typeface="Oswald"/>
                <a:cs typeface="Oswald"/>
                <a:sym typeface="Oswald"/>
              </a:rPr>
              <a:t>(0, 0)</a:t>
            </a:r>
            <a:endParaRPr b="0" i="0" sz="4400" u="none" cap="none" strike="noStrike">
              <a:solidFill>
                <a:schemeClr val="dk1"/>
              </a:solidFill>
              <a:latin typeface="Public Sans"/>
              <a:ea typeface="Public Sans"/>
              <a:cs typeface="Public Sans"/>
              <a:sym typeface="Public Sans"/>
            </a:endParaRPr>
          </a:p>
        </p:txBody>
      </p:sp>
      <p:sp>
        <p:nvSpPr>
          <p:cNvPr id="174" name="Google Shape;174;p9"/>
          <p:cNvSpPr/>
          <p:nvPr/>
        </p:nvSpPr>
        <p:spPr>
          <a:xfrm>
            <a:off x="8051800" y="5029101"/>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x1 = 0.000000, x2 = −0.000000</a:t>
            </a:r>
            <a:endParaRPr b="0" i="0" sz="1500" u="none" cap="none" strike="noStrike">
              <a:solidFill>
                <a:schemeClr val="dk1"/>
              </a:solidFill>
              <a:latin typeface="Public Sans"/>
              <a:ea typeface="Public Sans"/>
              <a:cs typeface="Public Sans"/>
              <a:sym typeface="Public Sans"/>
            </a:endParaRPr>
          </a:p>
        </p:txBody>
      </p:sp>
      <p:sp>
        <p:nvSpPr>
          <p:cNvPr id="175" name="Google Shape;175;p9"/>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 · seed 42</a:t>
            </a:r>
            <a:endParaRPr b="0" i="0" sz="1200" u="none" cap="none" strike="noStrike">
              <a:solidFill>
                <a:schemeClr val="dk1"/>
              </a:solidFill>
              <a:latin typeface="Public Sans"/>
              <a:ea typeface="Public Sans"/>
              <a:cs typeface="Public Sans"/>
              <a:sym typeface="Public Sans"/>
            </a:endParaRPr>
          </a:p>
        </p:txBody>
      </p:sp>
      <p:sp>
        <p:nvSpPr>
          <p:cNvPr id="176" name="Google Shape;176;p9"/>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lang="en-US" sz="1200">
                <a:solidFill>
                  <a:srgbClr val="5A5446"/>
                </a:solidFill>
                <a:latin typeface="Public Sans"/>
                <a:ea typeface="Public Sans"/>
                <a:cs typeface="Public Sans"/>
                <a:sym typeface="Public Sans"/>
              </a:rPr>
              <a:t>10</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81" name="Shape 181"/>
        <p:cNvGrpSpPr/>
        <p:nvPr/>
      </p:nvGrpSpPr>
      <p:grpSpPr>
        <a:xfrm>
          <a:off x="0" y="0"/>
          <a:ext cx="0" cy="0"/>
          <a:chOff x="0" y="0"/>
          <a:chExt cx="0" cy="0"/>
        </a:xfrm>
      </p:grpSpPr>
      <p:sp>
        <p:nvSpPr>
          <p:cNvPr id="182" name="Google Shape;182;p10"/>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COMPARISON</a:t>
            </a:r>
            <a:endParaRPr b="0" i="0" sz="1400" u="none" cap="none" strike="noStrike">
              <a:solidFill>
                <a:schemeClr val="dk1"/>
              </a:solidFill>
              <a:latin typeface="Public Sans"/>
              <a:ea typeface="Public Sans"/>
              <a:cs typeface="Public Sans"/>
              <a:sym typeface="Public Sans"/>
            </a:endParaRPr>
          </a:p>
        </p:txBody>
      </p:sp>
      <p:sp>
        <p:nvSpPr>
          <p:cNvPr id="183" name="Google Shape;183;p10"/>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C1A16"/>
              </a:buClr>
              <a:buSzPts val="3800"/>
              <a:buFont typeface="Oswald"/>
              <a:buNone/>
            </a:pPr>
            <a:r>
              <a:rPr b="1" i="0" lang="en-US" sz="3800">
                <a:solidFill>
                  <a:srgbClr val="1C1A16"/>
                </a:solidFill>
                <a:latin typeface="Oswald"/>
                <a:ea typeface="Oswald"/>
                <a:cs typeface="Oswald"/>
                <a:sym typeface="Oswald"/>
              </a:rPr>
              <a:t>ABC against a classical optimizer</a:t>
            </a:r>
            <a:endParaRPr sz="3800"/>
          </a:p>
        </p:txBody>
      </p:sp>
      <p:graphicFrame>
        <p:nvGraphicFramePr>
          <p:cNvPr id="184" name="Google Shape;184;p10"/>
          <p:cNvGraphicFramePr/>
          <p:nvPr/>
        </p:nvGraphicFramePr>
        <p:xfrm>
          <a:off x="825500" y="1935411"/>
          <a:ext cx="3000000" cy="3000000"/>
        </p:xfrm>
        <a:graphic>
          <a:graphicData uri="http://schemas.openxmlformats.org/drawingml/2006/table">
            <a:tbl>
              <a:tblPr>
                <a:noFill/>
                <a:tableStyleId>{8C74C288-C6E3-4506-9848-9D43E5F9F4BF}</a:tableStyleId>
              </a:tblPr>
              <a:tblGrid>
                <a:gridCol w="4432550"/>
                <a:gridCol w="2110750"/>
                <a:gridCol w="4010400"/>
              </a:tblGrid>
              <a:tr h="466025">
                <a:tc>
                  <a:txBody>
                    <a:bodyPr/>
                    <a:lstStyle/>
                    <a:p>
                      <a:pPr indent="0" lvl="0" marL="0" marR="0" rtl="0" algn="l">
                        <a:lnSpc>
                          <a:spcPct val="140000"/>
                        </a:lnSpc>
                        <a:spcBef>
                          <a:spcPts val="0"/>
                        </a:spcBef>
                        <a:spcAft>
                          <a:spcPts val="0"/>
                        </a:spcAft>
                        <a:buClr>
                          <a:srgbClr val="1C1A16"/>
                        </a:buClr>
                        <a:buSzPts val="1700"/>
                        <a:buFont typeface="Public Sans"/>
                        <a:buNone/>
                      </a:pPr>
                      <a:r>
                        <a:rPr b="1" lang="en-US" sz="1700" u="none" cap="none" strike="noStrike">
                          <a:solidFill>
                            <a:srgbClr val="1C1A16"/>
                          </a:solidFill>
                          <a:latin typeface="Public Sans"/>
                          <a:ea typeface="Public Sans"/>
                          <a:cs typeface="Public Sans"/>
                          <a:sym typeface="Public Sans"/>
                        </a:rPr>
                        <a:t>Method</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B9B5AC"/>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B9B5AC"/>
                      </a:solidFill>
                      <a:prstDash val="solid"/>
                      <a:round/>
                      <a:headEnd len="sm" w="sm" type="none"/>
                      <a:tailEnd len="sm" w="sm" type="none"/>
                    </a:lnB>
                    <a:solidFill>
                      <a:srgbClr val="E8E3D7"/>
                    </a:solidFill>
                  </a:tcPr>
                </a:tc>
                <a:tc>
                  <a:txBody>
                    <a:bodyPr/>
                    <a:lstStyle/>
                    <a:p>
                      <a:pPr indent="0" lvl="0" marL="0" marR="0" rtl="0" algn="r">
                        <a:lnSpc>
                          <a:spcPct val="140000"/>
                        </a:lnSpc>
                        <a:spcBef>
                          <a:spcPts val="0"/>
                        </a:spcBef>
                        <a:spcAft>
                          <a:spcPts val="0"/>
                        </a:spcAft>
                        <a:buClr>
                          <a:srgbClr val="1C1A16"/>
                        </a:buClr>
                        <a:buSzPts val="1700"/>
                        <a:buFont typeface="Public Sans"/>
                        <a:buNone/>
                      </a:pPr>
                      <a:r>
                        <a:rPr b="1" lang="en-US" sz="1700" u="none" cap="none" strike="noStrike">
                          <a:solidFill>
                            <a:srgbClr val="1C1A16"/>
                          </a:solidFill>
                          <a:latin typeface="Public Sans"/>
                          <a:ea typeface="Public Sans"/>
                          <a:cs typeface="Public Sans"/>
                          <a:sym typeface="Public Sans"/>
                        </a:rPr>
                        <a:t>Best value f</a:t>
                      </a:r>
                      <a:endParaRPr sz="1700" u="none" cap="none" strike="noStrike">
                        <a:latin typeface="Public Sans"/>
                        <a:ea typeface="Public Sans"/>
                        <a:cs typeface="Public Sans"/>
                        <a:sym typeface="Public Sans"/>
                      </a:endParaRPr>
                    </a:p>
                  </a:txBody>
                  <a:tcPr marT="75575" marB="75575" marR="75575" marL="75575">
                    <a:lnL cap="flat" cmpd="sng" w="12700">
                      <a:solidFill>
                        <a:srgbClr val="B9B5AC"/>
                      </a:solidFill>
                      <a:prstDash val="solid"/>
                      <a:round/>
                      <a:headEnd len="sm" w="sm" type="none"/>
                      <a:tailEnd len="sm" w="sm" type="none"/>
                    </a:lnL>
                    <a:lnR cap="flat" cmpd="sng" w="12700">
                      <a:solidFill>
                        <a:srgbClr val="B9B5AC"/>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B9B5AC"/>
                      </a:solidFill>
                      <a:prstDash val="solid"/>
                      <a:round/>
                      <a:headEnd len="sm" w="sm" type="none"/>
                      <a:tailEnd len="sm" w="sm" type="none"/>
                    </a:lnB>
                    <a:solidFill>
                      <a:srgbClr val="E8E3D7"/>
                    </a:solidFill>
                  </a:tcPr>
                </a:tc>
                <a:tc>
                  <a:txBody>
                    <a:bodyPr/>
                    <a:lstStyle/>
                    <a:p>
                      <a:pPr indent="0" lvl="0" marL="0" marR="0" rtl="0" algn="l">
                        <a:lnSpc>
                          <a:spcPct val="140000"/>
                        </a:lnSpc>
                        <a:spcBef>
                          <a:spcPts val="0"/>
                        </a:spcBef>
                        <a:spcAft>
                          <a:spcPts val="0"/>
                        </a:spcAft>
                        <a:buClr>
                          <a:srgbClr val="1C1A16"/>
                        </a:buClr>
                        <a:buSzPts val="1700"/>
                        <a:buFont typeface="Public Sans"/>
                        <a:buNone/>
                      </a:pPr>
                      <a:r>
                        <a:rPr b="1" lang="en-US" sz="1700" u="none" cap="none" strike="noStrike">
                          <a:solidFill>
                            <a:srgbClr val="1C1A16"/>
                          </a:solidFill>
                          <a:latin typeface="Public Sans"/>
                          <a:ea typeface="Public Sans"/>
                          <a:cs typeface="Public Sans"/>
                          <a:sym typeface="Public Sans"/>
                        </a:rPr>
                        <a:t>Outcome</a:t>
                      </a:r>
                      <a:endParaRPr sz="1700" u="none" cap="none" strike="noStrike">
                        <a:latin typeface="Public Sans"/>
                        <a:ea typeface="Public Sans"/>
                        <a:cs typeface="Public Sans"/>
                        <a:sym typeface="Public Sans"/>
                      </a:endParaRPr>
                    </a:p>
                  </a:txBody>
                  <a:tcPr marT="75575" marB="75575" marR="75575" marL="75575">
                    <a:lnL cap="flat" cmpd="sng" w="12700">
                      <a:solidFill>
                        <a:srgbClr val="B9B5AC"/>
                      </a:solidFill>
                      <a:prstDash val="solid"/>
                      <a:round/>
                      <a:headEnd len="sm" w="sm" type="none"/>
                      <a:tailEnd len="sm" w="sm" type="none"/>
                    </a:lnL>
                    <a:lnR cap="flat" cmpd="sng" w="12700">
                      <a:solidFill>
                        <a:srgbClr val="B9B5AC"/>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B9B5AC"/>
                      </a:solidFill>
                      <a:prstDash val="solid"/>
                      <a:round/>
                      <a:headEnd len="sm" w="sm" type="none"/>
                      <a:tailEnd len="sm" w="sm" type="none"/>
                    </a:lnB>
                    <a:solidFill>
                      <a:srgbClr val="E8E3D7"/>
                    </a:solidFill>
                  </a:tcPr>
                </a:tc>
              </a:tr>
              <a:tr h="466025">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ABC, 20 cycles</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B9B5AC"/>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0.00049</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B9B5AC"/>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Very close to 0</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B9B5AC"/>
                      </a:solidFill>
                      <a:prstDash val="solid"/>
                      <a:round/>
                      <a:headEnd len="sm" w="sm" type="none"/>
                      <a:tailEnd len="sm" w="sm" type="none"/>
                    </a:lnT>
                    <a:lnB cap="flat" cmpd="sng" w="12700">
                      <a:solidFill>
                        <a:srgbClr val="C7C4B9"/>
                      </a:solidFill>
                      <a:prstDash val="solid"/>
                      <a:round/>
                      <a:headEnd len="sm" w="sm" type="none"/>
                      <a:tailEnd len="sm" w="sm" type="none"/>
                    </a:lnB>
                  </a:tcPr>
                </a:tc>
              </a:tr>
              <a:tr h="466025">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ABC, 25 cycles</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0.00013</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Closer still</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66025">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ABC, full run (52 cycles)</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0.00000034</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Converged</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r h="466025">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Nelder-Mead from (4, −4)</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10.998</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C1A16"/>
                        </a:buClr>
                        <a:buSzPts val="1700"/>
                        <a:buFont typeface="Public Sans"/>
                        <a:buNone/>
                      </a:pPr>
                      <a:r>
                        <a:rPr lang="en-US" sz="1700" u="none" cap="none" strike="noStrike">
                          <a:solidFill>
                            <a:srgbClr val="1C1A16"/>
                          </a:solidFill>
                          <a:latin typeface="Public Sans"/>
                          <a:ea typeface="Public Sans"/>
                          <a:cs typeface="Public Sans"/>
                          <a:sym typeface="Public Sans"/>
                        </a:rPr>
                        <a:t>Stuck in a local minimum</a:t>
                      </a:r>
                      <a:endParaRPr sz="1700" u="none" cap="none" strike="noStrike">
                        <a:latin typeface="Public Sans"/>
                        <a:ea typeface="Public Sans"/>
                        <a:cs typeface="Public Sans"/>
                        <a:sym typeface="Public Sans"/>
                      </a:endParaRPr>
                    </a:p>
                  </a:txBody>
                  <a:tcPr marT="75575" marB="75575" marR="75575" marL="75575">
                    <a:lnL cap="flat" cmpd="sng" w="12700">
                      <a:solidFill>
                        <a:srgbClr val="C7C4B9"/>
                      </a:solidFill>
                      <a:prstDash val="solid"/>
                      <a:round/>
                      <a:headEnd len="sm" w="sm" type="none"/>
                      <a:tailEnd len="sm" w="sm" type="none"/>
                    </a:lnL>
                    <a:lnR cap="flat" cmpd="sng" w="12700">
                      <a:solidFill>
                        <a:srgbClr val="C7C4B9"/>
                      </a:solidFill>
                      <a:prstDash val="solid"/>
                      <a:round/>
                      <a:headEnd len="sm" w="sm" type="none"/>
                      <a:tailEnd len="sm" w="sm" type="none"/>
                    </a:lnR>
                    <a:lnT cap="flat" cmpd="sng" w="12700">
                      <a:solidFill>
                        <a:srgbClr val="C7C4B9"/>
                      </a:solidFill>
                      <a:prstDash val="solid"/>
                      <a:round/>
                      <a:headEnd len="sm" w="sm" type="none"/>
                      <a:tailEnd len="sm" w="sm" type="none"/>
                    </a:lnT>
                    <a:lnB cap="flat" cmpd="sng" w="12700">
                      <a:solidFill>
                        <a:srgbClr val="C7C4B9"/>
                      </a:solidFill>
                      <a:prstDash val="solid"/>
                      <a:round/>
                      <a:headEnd len="sm" w="sm" type="none"/>
                      <a:tailEnd len="sm" w="sm" type="none"/>
                    </a:lnB>
                  </a:tcPr>
                </a:tc>
              </a:tr>
            </a:tbl>
          </a:graphicData>
        </a:graphic>
      </p:graphicFrame>
      <p:sp>
        <p:nvSpPr>
          <p:cNvPr id="185" name="Google Shape;185;p10"/>
          <p:cNvSpPr/>
          <p:nvPr/>
        </p:nvSpPr>
        <p:spPr>
          <a:xfrm>
            <a:off x="812800" y="4519563"/>
            <a:ext cx="10883392" cy="59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600"/>
              <a:buFont typeface="Public Sans"/>
              <a:buNone/>
            </a:pPr>
            <a:r>
              <a:rPr b="0" i="0" lang="en-US" sz="1600" u="none" cap="none" strike="noStrike">
                <a:solidFill>
                  <a:srgbClr val="3D382D"/>
                </a:solidFill>
                <a:latin typeface="Public Sans"/>
                <a:ea typeface="Public Sans"/>
                <a:cs typeface="Public Sans"/>
                <a:sym typeface="Public Sans"/>
              </a:rPr>
              <a:t>Same Ackley function and seed 42. Nelder-Mead is a local method: it stays in the basin where it starts, while the bee colony explores the whole range.</a:t>
            </a:r>
            <a:endParaRPr b="0" i="0" sz="1600" u="none" cap="none" strike="noStrike">
              <a:solidFill>
                <a:schemeClr val="dk1"/>
              </a:solidFill>
              <a:latin typeface="Public Sans"/>
              <a:ea typeface="Public Sans"/>
              <a:cs typeface="Public Sans"/>
              <a:sym typeface="Public Sans"/>
            </a:endParaRPr>
          </a:p>
        </p:txBody>
      </p:sp>
      <p:sp>
        <p:nvSpPr>
          <p:cNvPr id="186" name="Google Shape;186;p10"/>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187" name="Google Shape;187;p10"/>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lang="en-US" sz="1200">
                <a:solidFill>
                  <a:srgbClr val="5A5446"/>
                </a:solidFill>
                <a:latin typeface="Public Sans"/>
                <a:ea typeface="Public Sans"/>
                <a:cs typeface="Public Sans"/>
                <a:sym typeface="Public Sans"/>
              </a:rPr>
              <a:t>11</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5E8"/>
        </a:solidFill>
      </p:bgPr>
    </p:bg>
    <p:spTree>
      <p:nvGrpSpPr>
        <p:cNvPr id="192" name="Shape 192"/>
        <p:cNvGrpSpPr/>
        <p:nvPr/>
      </p:nvGrpSpPr>
      <p:grpSpPr>
        <a:xfrm>
          <a:off x="0" y="0"/>
          <a:ext cx="0" cy="0"/>
          <a:chOff x="0" y="0"/>
          <a:chExt cx="0" cy="0"/>
        </a:xfrm>
      </p:grpSpPr>
      <p:sp>
        <p:nvSpPr>
          <p:cNvPr id="193" name="Google Shape;193;p11"/>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8A5A00"/>
              </a:buClr>
              <a:buSzPts val="1400"/>
              <a:buFont typeface="Public Sans"/>
              <a:buNone/>
            </a:pPr>
            <a:r>
              <a:rPr b="1" i="0" lang="en-US" sz="1400" u="none" cap="none" strike="noStrike">
                <a:solidFill>
                  <a:srgbClr val="8A5A00"/>
                </a:solidFill>
                <a:latin typeface="Public Sans"/>
                <a:ea typeface="Public Sans"/>
                <a:cs typeface="Public Sans"/>
                <a:sym typeface="Public Sans"/>
              </a:rPr>
              <a:t>ROBUSTNESS</a:t>
            </a:r>
            <a:endParaRPr b="0" i="0" sz="1400" u="none" cap="none" strike="noStrike">
              <a:solidFill>
                <a:schemeClr val="dk1"/>
              </a:solidFill>
              <a:latin typeface="Public Sans"/>
              <a:ea typeface="Public Sans"/>
              <a:cs typeface="Public Sans"/>
              <a:sym typeface="Public Sans"/>
            </a:endParaRPr>
          </a:p>
        </p:txBody>
      </p:sp>
      <p:sp>
        <p:nvSpPr>
          <p:cNvPr id="194" name="Google Shape;194;p11"/>
          <p:cNvSpPr txBox="1"/>
          <p:nvPr>
            <p:ph type="title"/>
          </p:nvPr>
        </p:nvSpPr>
        <p:spPr>
          <a:xfrm>
            <a:off x="812800" y="1061690"/>
            <a:ext cx="10883400" cy="5562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1C1A16"/>
              </a:buClr>
              <a:buSzPct val="100000"/>
              <a:buFont typeface="Oswald"/>
              <a:buNone/>
            </a:pPr>
            <a:r>
              <a:rPr b="1" i="0" lang="en-US" sz="3800">
                <a:solidFill>
                  <a:srgbClr val="1C1A16"/>
                </a:solidFill>
                <a:latin typeface="Oswald"/>
                <a:ea typeface="Oswald"/>
                <a:cs typeface="Oswald"/>
                <a:sym typeface="Oswald"/>
              </a:rPr>
              <a:t>Not just a lucky seed</a:t>
            </a:r>
            <a:endParaRPr sz="3800"/>
          </a:p>
        </p:txBody>
      </p:sp>
      <p:pic>
        <p:nvPicPr>
          <p:cNvPr descr="Thirty convergence curves on a log scale, all dropping below the stop threshold" id="195" name="Google Shape;195;p11"/>
          <p:cNvPicPr preferRelativeResize="0"/>
          <p:nvPr/>
        </p:nvPicPr>
        <p:blipFill rotWithShape="1">
          <a:blip r:embed="rId3">
            <a:alphaModFix/>
          </a:blip>
          <a:srcRect b="0" l="-181" r="-181" t="0"/>
          <a:stretch/>
        </p:blipFill>
        <p:spPr>
          <a:xfrm>
            <a:off x="812800" y="1660675"/>
            <a:ext cx="6939900" cy="4322100"/>
          </a:xfrm>
          <a:prstGeom prst="roundRect">
            <a:avLst>
              <a:gd fmla="val 1792" name="adj"/>
            </a:avLst>
          </a:prstGeom>
          <a:noFill/>
          <a:ln>
            <a:noFill/>
          </a:ln>
        </p:spPr>
      </p:pic>
      <p:sp>
        <p:nvSpPr>
          <p:cNvPr id="196" name="Google Shape;196;p11"/>
          <p:cNvSpPr/>
          <p:nvPr/>
        </p:nvSpPr>
        <p:spPr>
          <a:xfrm>
            <a:off x="8128000" y="2118320"/>
            <a:ext cx="4683000" cy="6402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8A5A00"/>
              </a:buClr>
              <a:buSzPts val="4400"/>
              <a:buFont typeface="Oswald"/>
              <a:buNone/>
            </a:pPr>
            <a:r>
              <a:rPr b="1" i="0" lang="en-US" sz="4400" u="none" cap="none" strike="noStrike">
                <a:solidFill>
                  <a:srgbClr val="8A5A00"/>
                </a:solidFill>
                <a:latin typeface="Oswald"/>
                <a:ea typeface="Oswald"/>
                <a:cs typeface="Oswald"/>
                <a:sym typeface="Oswald"/>
              </a:rPr>
              <a:t>30 / 30</a:t>
            </a:r>
            <a:endParaRPr b="0" i="0" sz="4400" u="none" cap="none" strike="noStrike">
              <a:solidFill>
                <a:schemeClr val="dk1"/>
              </a:solidFill>
              <a:latin typeface="Public Sans"/>
              <a:ea typeface="Public Sans"/>
              <a:cs typeface="Public Sans"/>
              <a:sym typeface="Public Sans"/>
            </a:endParaRPr>
          </a:p>
        </p:txBody>
      </p:sp>
      <p:sp>
        <p:nvSpPr>
          <p:cNvPr id="197" name="Google Shape;197;p11"/>
          <p:cNvSpPr/>
          <p:nvPr/>
        </p:nvSpPr>
        <p:spPr>
          <a:xfrm>
            <a:off x="8128000" y="2758380"/>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seeds converged to f ≤ 1e-6</a:t>
            </a:r>
            <a:endParaRPr b="0" i="0" sz="1500" u="none" cap="none" strike="noStrike">
              <a:solidFill>
                <a:schemeClr val="dk1"/>
              </a:solidFill>
              <a:latin typeface="Public Sans"/>
              <a:ea typeface="Public Sans"/>
              <a:cs typeface="Public Sans"/>
              <a:sym typeface="Public Sans"/>
            </a:endParaRPr>
          </a:p>
        </p:txBody>
      </p:sp>
      <p:sp>
        <p:nvSpPr>
          <p:cNvPr id="198" name="Google Shape;198;p11"/>
          <p:cNvSpPr/>
          <p:nvPr/>
        </p:nvSpPr>
        <p:spPr>
          <a:xfrm>
            <a:off x="8128000" y="3253680"/>
            <a:ext cx="4683000" cy="6402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8A5A00"/>
              </a:buClr>
              <a:buSzPts val="4400"/>
              <a:buFont typeface="Oswald"/>
              <a:buNone/>
            </a:pPr>
            <a:r>
              <a:rPr b="1" i="0" lang="en-US" sz="4400" u="none" cap="none" strike="noStrike">
                <a:solidFill>
                  <a:srgbClr val="8A5A00"/>
                </a:solidFill>
                <a:latin typeface="Oswald"/>
                <a:ea typeface="Oswald"/>
                <a:cs typeface="Oswald"/>
                <a:sym typeface="Oswald"/>
              </a:rPr>
              <a:t>44.8</a:t>
            </a:r>
            <a:endParaRPr b="0" i="0" sz="4400" u="none" cap="none" strike="noStrike">
              <a:solidFill>
                <a:schemeClr val="dk1"/>
              </a:solidFill>
              <a:latin typeface="Public Sans"/>
              <a:ea typeface="Public Sans"/>
              <a:cs typeface="Public Sans"/>
              <a:sym typeface="Public Sans"/>
            </a:endParaRPr>
          </a:p>
        </p:txBody>
      </p:sp>
      <p:sp>
        <p:nvSpPr>
          <p:cNvPr id="199" name="Google Shape;199;p11"/>
          <p:cNvSpPr/>
          <p:nvPr/>
        </p:nvSpPr>
        <p:spPr>
          <a:xfrm>
            <a:off x="8128000" y="3893741"/>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mean cycles used (range 32 to 52)</a:t>
            </a:r>
            <a:endParaRPr b="0" i="0" sz="1500" u="none" cap="none" strike="noStrike">
              <a:solidFill>
                <a:schemeClr val="dk1"/>
              </a:solidFill>
              <a:latin typeface="Public Sans"/>
              <a:ea typeface="Public Sans"/>
              <a:cs typeface="Public Sans"/>
              <a:sym typeface="Public Sans"/>
            </a:endParaRPr>
          </a:p>
        </p:txBody>
      </p:sp>
      <p:sp>
        <p:nvSpPr>
          <p:cNvPr id="200" name="Google Shape;200;p11"/>
          <p:cNvSpPr/>
          <p:nvPr/>
        </p:nvSpPr>
        <p:spPr>
          <a:xfrm>
            <a:off x="8128000" y="4389041"/>
            <a:ext cx="4683000" cy="6402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8A5A00"/>
              </a:buClr>
              <a:buSzPts val="4400"/>
              <a:buFont typeface="Oswald"/>
              <a:buNone/>
            </a:pPr>
            <a:r>
              <a:rPr b="1" i="0" lang="en-US" sz="4400" u="none" cap="none" strike="noStrike">
                <a:solidFill>
                  <a:srgbClr val="8A5A00"/>
                </a:solidFill>
                <a:latin typeface="Oswald"/>
                <a:ea typeface="Oswald"/>
                <a:cs typeface="Oswald"/>
                <a:sym typeface="Oswald"/>
              </a:rPr>
              <a:t>9.9e-7</a:t>
            </a:r>
            <a:endParaRPr b="0" i="0" sz="4400" u="none" cap="none" strike="noStrike">
              <a:solidFill>
                <a:schemeClr val="dk1"/>
              </a:solidFill>
              <a:latin typeface="Public Sans"/>
              <a:ea typeface="Public Sans"/>
              <a:cs typeface="Public Sans"/>
              <a:sym typeface="Public Sans"/>
            </a:endParaRPr>
          </a:p>
        </p:txBody>
      </p:sp>
      <p:sp>
        <p:nvSpPr>
          <p:cNvPr id="201" name="Google Shape;201;p11"/>
          <p:cNvSpPr/>
          <p:nvPr/>
        </p:nvSpPr>
        <p:spPr>
          <a:xfrm>
            <a:off x="8128000" y="5029101"/>
            <a:ext cx="4683000" cy="292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3D382D"/>
              </a:buClr>
              <a:buSzPts val="1500"/>
              <a:buFont typeface="Public Sans"/>
              <a:buNone/>
            </a:pPr>
            <a:r>
              <a:rPr b="0" i="0" lang="en-US" sz="1500" u="none" cap="none" strike="noStrike">
                <a:solidFill>
                  <a:srgbClr val="3D382D"/>
                </a:solidFill>
                <a:latin typeface="Public Sans"/>
                <a:ea typeface="Public Sans"/>
                <a:cs typeface="Public Sans"/>
                <a:sym typeface="Public Sans"/>
              </a:rPr>
              <a:t>worst final value over all seeds</a:t>
            </a:r>
            <a:endParaRPr b="0" i="0" sz="1500" u="none" cap="none" strike="noStrike">
              <a:solidFill>
                <a:schemeClr val="dk1"/>
              </a:solidFill>
              <a:latin typeface="Public Sans"/>
              <a:ea typeface="Public Sans"/>
              <a:cs typeface="Public Sans"/>
              <a:sym typeface="Public Sans"/>
            </a:endParaRPr>
          </a:p>
        </p:txBody>
      </p:sp>
      <p:sp>
        <p:nvSpPr>
          <p:cNvPr id="202" name="Google Shape;202;p11"/>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5A5446"/>
              </a:buClr>
              <a:buSzPts val="1200"/>
              <a:buFont typeface="Public Sans"/>
              <a:buNone/>
            </a:pPr>
            <a:r>
              <a:rPr b="0" i="0" lang="en-US" sz="1200" u="none" cap="none" strike="noStrike">
                <a:solidFill>
                  <a:srgbClr val="5A5446"/>
                </a:solidFill>
                <a:latin typeface="Public Sans"/>
                <a:ea typeface="Public Sans"/>
                <a:cs typeface="Public Sans"/>
                <a:sym typeface="Public Sans"/>
              </a:rPr>
              <a:t>Artificial Bee Colony · 2D Ackley · seeds 0 to 29</a:t>
            </a:r>
            <a:endParaRPr b="0" i="0" sz="1200" u="none" cap="none" strike="noStrike">
              <a:solidFill>
                <a:schemeClr val="dk1"/>
              </a:solidFill>
              <a:latin typeface="Public Sans"/>
              <a:ea typeface="Public Sans"/>
              <a:cs typeface="Public Sans"/>
              <a:sym typeface="Public Sans"/>
            </a:endParaRPr>
          </a:p>
        </p:txBody>
      </p:sp>
      <p:sp>
        <p:nvSpPr>
          <p:cNvPr id="203" name="Google Shape;203;p11"/>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5A5446"/>
              </a:buClr>
              <a:buSzPts val="1200"/>
              <a:buFont typeface="Public Sans"/>
              <a:buNone/>
            </a:pPr>
            <a:r>
              <a:rPr lang="en-US" sz="1200">
                <a:solidFill>
                  <a:srgbClr val="5A5446"/>
                </a:solidFill>
                <a:latin typeface="Public Sans"/>
                <a:ea typeface="Public Sans"/>
                <a:cs typeface="Public Sans"/>
                <a:sym typeface="Public Sans"/>
              </a:rPr>
              <a:t>12</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A16"/>
        </a:solidFill>
      </p:bgPr>
    </p:bg>
    <p:spTree>
      <p:nvGrpSpPr>
        <p:cNvPr id="208" name="Shape 208"/>
        <p:cNvGrpSpPr/>
        <p:nvPr/>
      </p:nvGrpSpPr>
      <p:grpSpPr>
        <a:xfrm>
          <a:off x="0" y="0"/>
          <a:ext cx="0" cy="0"/>
          <a:chOff x="0" y="0"/>
          <a:chExt cx="0" cy="0"/>
        </a:xfrm>
      </p:grpSpPr>
      <p:sp>
        <p:nvSpPr>
          <p:cNvPr id="209" name="Google Shape;209;p12"/>
          <p:cNvSpPr/>
          <p:nvPr/>
        </p:nvSpPr>
        <p:spPr>
          <a:xfrm>
            <a:off x="812800" y="812800"/>
            <a:ext cx="10883392" cy="27429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2B632"/>
              </a:buClr>
              <a:buSzPts val="1400"/>
              <a:buFont typeface="Public Sans"/>
              <a:buNone/>
            </a:pPr>
            <a:r>
              <a:rPr b="1" i="0" lang="en-US" sz="1400" u="none" cap="none" strike="noStrike">
                <a:solidFill>
                  <a:srgbClr val="F2B632"/>
                </a:solidFill>
                <a:latin typeface="Public Sans"/>
                <a:ea typeface="Public Sans"/>
                <a:cs typeface="Public Sans"/>
                <a:sym typeface="Public Sans"/>
              </a:rPr>
              <a:t>WRAP-UP</a:t>
            </a:r>
            <a:endParaRPr b="0" i="0" sz="1400" u="none" cap="none" strike="noStrike">
              <a:solidFill>
                <a:schemeClr val="dk1"/>
              </a:solidFill>
              <a:latin typeface="Public Sans"/>
              <a:ea typeface="Public Sans"/>
              <a:cs typeface="Public Sans"/>
              <a:sym typeface="Public Sans"/>
            </a:endParaRPr>
          </a:p>
        </p:txBody>
      </p:sp>
      <p:sp>
        <p:nvSpPr>
          <p:cNvPr id="210" name="Google Shape;210;p12"/>
          <p:cNvSpPr txBox="1"/>
          <p:nvPr>
            <p:ph type="title"/>
          </p:nvPr>
        </p:nvSpPr>
        <p:spPr>
          <a:xfrm>
            <a:off x="812800" y="1137890"/>
            <a:ext cx="10883392" cy="5562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AF5E8"/>
              </a:buClr>
              <a:buSzPts val="3800"/>
              <a:buFont typeface="Oswald"/>
              <a:buNone/>
            </a:pPr>
            <a:r>
              <a:rPr b="1" i="0" lang="en-US" sz="3800">
                <a:solidFill>
                  <a:srgbClr val="FAF5E8"/>
                </a:solidFill>
                <a:latin typeface="Oswald"/>
                <a:ea typeface="Oswald"/>
                <a:cs typeface="Oswald"/>
                <a:sym typeface="Oswald"/>
              </a:rPr>
              <a:t>Strengths, limits and uses</a:t>
            </a:r>
            <a:endParaRPr sz="3800"/>
          </a:p>
        </p:txBody>
      </p:sp>
      <p:sp>
        <p:nvSpPr>
          <p:cNvPr id="211" name="Google Shape;211;p12"/>
          <p:cNvSpPr/>
          <p:nvPr/>
        </p:nvSpPr>
        <p:spPr>
          <a:xfrm>
            <a:off x="819150" y="1979850"/>
            <a:ext cx="3373800" cy="3138600"/>
          </a:xfrm>
          <a:prstGeom prst="roundRect">
            <a:avLst>
              <a:gd fmla="val 4477" name="adj"/>
            </a:avLst>
          </a:prstGeom>
          <a:solidFill>
            <a:srgbClr val="2A2720"/>
          </a:solidFill>
          <a:ln cap="flat" cmpd="sng" w="12700">
            <a:solidFill>
              <a:srgbClr val="4A44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p:nvPr/>
        </p:nvSpPr>
        <p:spPr>
          <a:xfrm>
            <a:off x="1079500" y="2240211"/>
            <a:ext cx="2938831"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B632"/>
              </a:buClr>
              <a:buSzPts val="2400"/>
              <a:buFont typeface="Oswald"/>
              <a:buNone/>
            </a:pPr>
            <a:r>
              <a:rPr b="1" i="0" lang="en-US" sz="2400" u="none" cap="none" strike="noStrike">
                <a:solidFill>
                  <a:srgbClr val="F2B632"/>
                </a:solidFill>
                <a:latin typeface="Oswald"/>
                <a:ea typeface="Oswald"/>
                <a:cs typeface="Oswald"/>
                <a:sym typeface="Oswald"/>
              </a:rPr>
              <a:t>Advantages</a:t>
            </a:r>
            <a:endParaRPr b="0" i="0" sz="2400" u="none" cap="none" strike="noStrike">
              <a:solidFill>
                <a:schemeClr val="dk1"/>
              </a:solidFill>
              <a:latin typeface="Public Sans"/>
              <a:ea typeface="Public Sans"/>
              <a:cs typeface="Public Sans"/>
              <a:sym typeface="Public Sans"/>
            </a:endParaRPr>
          </a:p>
        </p:txBody>
      </p:sp>
      <p:sp>
        <p:nvSpPr>
          <p:cNvPr id="213" name="Google Shape;213;p12"/>
          <p:cNvSpPr/>
          <p:nvPr/>
        </p:nvSpPr>
        <p:spPr>
          <a:xfrm>
            <a:off x="1149850" y="2859923"/>
            <a:ext cx="2860800" cy="1621800"/>
          </a:xfrm>
          <a:prstGeom prst="rect">
            <a:avLst/>
          </a:prstGeom>
          <a:noFill/>
          <a:ln>
            <a:noFill/>
          </a:ln>
        </p:spPr>
        <p:txBody>
          <a:bodyPr anchorCtr="0" anchor="t" bIns="0" lIns="0" spcFirstLastPara="1" rIns="0" wrap="square" tIns="0">
            <a:normAutofit/>
          </a:bodyPr>
          <a:lstStyle/>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Few control parameters</a:t>
            </a:r>
            <a:endParaRPr b="0" i="0" sz="1600" u="none" cap="none" strike="noStrike">
              <a:solidFill>
                <a:schemeClr val="dk1"/>
              </a:solidFill>
              <a:latin typeface="Public Sans"/>
              <a:ea typeface="Public Sans"/>
              <a:cs typeface="Public Sans"/>
              <a:sym typeface="Public Sans"/>
            </a:endParaRPr>
          </a:p>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Fast convergence</a:t>
            </a:r>
            <a:endParaRPr b="0" i="0" sz="1600" u="none" cap="none" strike="noStrike">
              <a:solidFill>
                <a:schemeClr val="dk1"/>
              </a:solidFill>
              <a:latin typeface="Public Sans"/>
              <a:ea typeface="Public Sans"/>
              <a:cs typeface="Public Sans"/>
              <a:sym typeface="Public Sans"/>
            </a:endParaRPr>
          </a:p>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Both exploration and exploitation</a:t>
            </a:r>
            <a:endParaRPr b="0" i="0" sz="1600" u="none" cap="none" strike="noStrike">
              <a:solidFill>
                <a:schemeClr val="dk1"/>
              </a:solidFill>
              <a:latin typeface="Public Sans"/>
              <a:ea typeface="Public Sans"/>
              <a:cs typeface="Public Sans"/>
              <a:sym typeface="Public Sans"/>
            </a:endParaRPr>
          </a:p>
        </p:txBody>
      </p:sp>
      <p:sp>
        <p:nvSpPr>
          <p:cNvPr id="214" name="Google Shape;214;p12"/>
          <p:cNvSpPr/>
          <p:nvPr/>
        </p:nvSpPr>
        <p:spPr>
          <a:xfrm>
            <a:off x="4408987" y="1979850"/>
            <a:ext cx="3374100" cy="3138600"/>
          </a:xfrm>
          <a:prstGeom prst="roundRect">
            <a:avLst>
              <a:gd fmla="val 4477" name="adj"/>
            </a:avLst>
          </a:prstGeom>
          <a:solidFill>
            <a:srgbClr val="2A2720"/>
          </a:solidFill>
          <a:ln cap="flat" cmpd="sng" w="12700">
            <a:solidFill>
              <a:srgbClr val="4A44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p:nvPr/>
        </p:nvSpPr>
        <p:spPr>
          <a:xfrm>
            <a:off x="4669334" y="2240211"/>
            <a:ext cx="2938882"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B632"/>
              </a:buClr>
              <a:buSzPts val="2400"/>
              <a:buFont typeface="Oswald"/>
              <a:buNone/>
            </a:pPr>
            <a:r>
              <a:rPr b="1" i="0" lang="en-US" sz="2400" u="none" cap="none" strike="noStrike">
                <a:solidFill>
                  <a:srgbClr val="F2B632"/>
                </a:solidFill>
                <a:latin typeface="Oswald"/>
                <a:ea typeface="Oswald"/>
                <a:cs typeface="Oswald"/>
                <a:sym typeface="Oswald"/>
              </a:rPr>
              <a:t>Limitation</a:t>
            </a:r>
            <a:endParaRPr b="0" i="0" sz="2400" u="none" cap="none" strike="noStrike">
              <a:solidFill>
                <a:schemeClr val="dk1"/>
              </a:solidFill>
              <a:latin typeface="Public Sans"/>
              <a:ea typeface="Public Sans"/>
              <a:cs typeface="Public Sans"/>
              <a:sym typeface="Public Sans"/>
            </a:endParaRPr>
          </a:p>
        </p:txBody>
      </p:sp>
      <p:sp>
        <p:nvSpPr>
          <p:cNvPr id="216" name="Google Shape;216;p12"/>
          <p:cNvSpPr/>
          <p:nvPr/>
        </p:nvSpPr>
        <p:spPr>
          <a:xfrm>
            <a:off x="4739687" y="2859923"/>
            <a:ext cx="2860800" cy="828600"/>
          </a:xfrm>
          <a:prstGeom prst="rect">
            <a:avLst/>
          </a:prstGeom>
          <a:noFill/>
          <a:ln>
            <a:noFill/>
          </a:ln>
        </p:spPr>
        <p:txBody>
          <a:bodyPr anchorCtr="0" anchor="t" bIns="0" lIns="0" spcFirstLastPara="1" rIns="0" wrap="square" tIns="0">
            <a:normAutofit/>
          </a:bodyPr>
          <a:lstStyle/>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Search space is limited by the initial solutions</a:t>
            </a:r>
            <a:endParaRPr b="0" i="0" sz="1600" u="none" cap="none" strike="noStrike">
              <a:solidFill>
                <a:schemeClr val="dk1"/>
              </a:solidFill>
              <a:latin typeface="Public Sans"/>
              <a:ea typeface="Public Sans"/>
              <a:cs typeface="Public Sans"/>
              <a:sym typeface="Public Sans"/>
            </a:endParaRPr>
          </a:p>
        </p:txBody>
      </p:sp>
      <p:sp>
        <p:nvSpPr>
          <p:cNvPr id="217" name="Google Shape;217;p12"/>
          <p:cNvSpPr/>
          <p:nvPr/>
        </p:nvSpPr>
        <p:spPr>
          <a:xfrm>
            <a:off x="7998872" y="1979850"/>
            <a:ext cx="3374100" cy="3138600"/>
          </a:xfrm>
          <a:prstGeom prst="roundRect">
            <a:avLst>
              <a:gd fmla="val 4477" name="adj"/>
            </a:avLst>
          </a:prstGeom>
          <a:solidFill>
            <a:srgbClr val="2A2720"/>
          </a:solidFill>
          <a:ln cap="flat" cmpd="sng" w="12700">
            <a:solidFill>
              <a:srgbClr val="4A44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2"/>
          <p:cNvSpPr/>
          <p:nvPr/>
        </p:nvSpPr>
        <p:spPr>
          <a:xfrm>
            <a:off x="8259217" y="2240211"/>
            <a:ext cx="2938882" cy="39112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2B632"/>
              </a:buClr>
              <a:buSzPts val="2400"/>
              <a:buFont typeface="Oswald"/>
              <a:buNone/>
            </a:pPr>
            <a:r>
              <a:rPr b="1" i="0" lang="en-US" sz="2400" u="none" cap="none" strike="noStrike">
                <a:solidFill>
                  <a:srgbClr val="F2B632"/>
                </a:solidFill>
                <a:latin typeface="Oswald"/>
                <a:ea typeface="Oswald"/>
                <a:cs typeface="Oswald"/>
                <a:sym typeface="Oswald"/>
              </a:rPr>
              <a:t>Applications</a:t>
            </a:r>
            <a:endParaRPr b="0" i="0" sz="2400" u="none" cap="none" strike="noStrike">
              <a:solidFill>
                <a:schemeClr val="dk1"/>
              </a:solidFill>
              <a:latin typeface="Public Sans"/>
              <a:ea typeface="Public Sans"/>
              <a:cs typeface="Public Sans"/>
              <a:sym typeface="Public Sans"/>
            </a:endParaRPr>
          </a:p>
        </p:txBody>
      </p:sp>
      <p:sp>
        <p:nvSpPr>
          <p:cNvPr id="219" name="Google Shape;219;p12"/>
          <p:cNvSpPr/>
          <p:nvPr/>
        </p:nvSpPr>
        <p:spPr>
          <a:xfrm>
            <a:off x="8329573" y="2859923"/>
            <a:ext cx="2860800" cy="2415300"/>
          </a:xfrm>
          <a:prstGeom prst="rect">
            <a:avLst/>
          </a:prstGeom>
          <a:noFill/>
          <a:ln>
            <a:noFill/>
          </a:ln>
        </p:spPr>
        <p:txBody>
          <a:bodyPr anchorCtr="0" anchor="t" bIns="0" lIns="0" spcFirstLastPara="1" rIns="0" wrap="square" tIns="0">
            <a:normAutofit/>
          </a:bodyPr>
          <a:lstStyle/>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Welded beam and coil spring design</a:t>
            </a:r>
            <a:endParaRPr b="0" i="0" sz="1600" u="none" cap="none" strike="noStrike">
              <a:solidFill>
                <a:schemeClr val="dk1"/>
              </a:solidFill>
              <a:latin typeface="Public Sans"/>
              <a:ea typeface="Public Sans"/>
              <a:cs typeface="Public Sans"/>
              <a:sym typeface="Public Sans"/>
            </a:endParaRPr>
          </a:p>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Digital filter optimization</a:t>
            </a:r>
            <a:endParaRPr b="0" i="0" sz="1600" u="none" cap="none" strike="noStrike">
              <a:solidFill>
                <a:schemeClr val="dk1"/>
              </a:solidFill>
              <a:latin typeface="Public Sans"/>
              <a:ea typeface="Public Sans"/>
              <a:cs typeface="Public Sans"/>
              <a:sym typeface="Public Sans"/>
            </a:endParaRPr>
          </a:p>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Fuzzy control design</a:t>
            </a:r>
            <a:endParaRPr b="0" i="0" sz="1600" u="none" cap="none" strike="noStrike">
              <a:solidFill>
                <a:schemeClr val="dk1"/>
              </a:solidFill>
              <a:latin typeface="Public Sans"/>
              <a:ea typeface="Public Sans"/>
              <a:cs typeface="Public Sans"/>
              <a:sym typeface="Public Sans"/>
            </a:endParaRPr>
          </a:p>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K-means data clustering</a:t>
            </a:r>
            <a:endParaRPr b="0" i="0" sz="1600" u="none" cap="none" strike="noStrike">
              <a:solidFill>
                <a:schemeClr val="dk1"/>
              </a:solidFill>
              <a:latin typeface="Public Sans"/>
              <a:ea typeface="Public Sans"/>
              <a:cs typeface="Public Sans"/>
              <a:sym typeface="Public Sans"/>
            </a:endParaRPr>
          </a:p>
          <a:p>
            <a:pPr indent="-183642" lvl="0" marL="183642" marR="0" rtl="0" algn="l">
              <a:lnSpc>
                <a:spcPct val="140000"/>
              </a:lnSpc>
              <a:spcBef>
                <a:spcPts val="0"/>
              </a:spcBef>
              <a:spcAft>
                <a:spcPts val="0"/>
              </a:spcAft>
              <a:buClr>
                <a:srgbClr val="FAF5E8"/>
              </a:buClr>
              <a:buSzPts val="1600"/>
              <a:buFont typeface="Public Sans"/>
              <a:buChar char="•"/>
            </a:pPr>
            <a:r>
              <a:rPr b="0" i="0" lang="en-US" sz="1600" u="none" cap="none" strike="noStrike">
                <a:solidFill>
                  <a:srgbClr val="FAF5E8"/>
                </a:solidFill>
                <a:latin typeface="Public Sans"/>
                <a:ea typeface="Public Sans"/>
                <a:cs typeface="Public Sans"/>
                <a:sym typeface="Public Sans"/>
              </a:rPr>
              <a:t>Robot control</a:t>
            </a:r>
            <a:endParaRPr b="0" i="0" sz="1600" u="none" cap="none" strike="noStrike">
              <a:solidFill>
                <a:schemeClr val="dk1"/>
              </a:solidFill>
              <a:latin typeface="Public Sans"/>
              <a:ea typeface="Public Sans"/>
              <a:cs typeface="Public Sans"/>
              <a:sym typeface="Public Sans"/>
            </a:endParaRPr>
          </a:p>
        </p:txBody>
      </p:sp>
      <p:sp>
        <p:nvSpPr>
          <p:cNvPr id="220" name="Google Shape;220;p12"/>
          <p:cNvSpPr/>
          <p:nvPr/>
        </p:nvSpPr>
        <p:spPr>
          <a:xfrm>
            <a:off x="812800" y="6238280"/>
            <a:ext cx="6540500"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FC6AE"/>
              </a:buClr>
              <a:buSzPts val="1200"/>
              <a:buFont typeface="Public Sans"/>
              <a:buNone/>
            </a:pPr>
            <a:r>
              <a:rPr b="0" i="0" lang="en-US" sz="1200" u="none" cap="none" strike="noStrike">
                <a:solidFill>
                  <a:srgbClr val="CFC6AE"/>
                </a:solidFill>
                <a:latin typeface="Public Sans"/>
                <a:ea typeface="Public Sans"/>
                <a:cs typeface="Public Sans"/>
                <a:sym typeface="Public Sans"/>
              </a:rPr>
              <a:t>Artificial Bee Colony · 2D Ackley</a:t>
            </a:r>
            <a:endParaRPr b="0" i="0" sz="1200" u="none" cap="none" strike="noStrike">
              <a:solidFill>
                <a:schemeClr val="dk1"/>
              </a:solidFill>
              <a:latin typeface="Public Sans"/>
              <a:ea typeface="Public Sans"/>
              <a:cs typeface="Public Sans"/>
              <a:sym typeface="Public Sans"/>
            </a:endParaRPr>
          </a:p>
        </p:txBody>
      </p:sp>
      <p:sp>
        <p:nvSpPr>
          <p:cNvPr id="221" name="Google Shape;221;p12"/>
          <p:cNvSpPr/>
          <p:nvPr/>
        </p:nvSpPr>
        <p:spPr>
          <a:xfrm>
            <a:off x="10566400" y="6238280"/>
            <a:ext cx="81280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CFC6AE"/>
              </a:buClr>
              <a:buSzPts val="1200"/>
              <a:buFont typeface="Public Sans"/>
              <a:buNone/>
            </a:pPr>
            <a:r>
              <a:rPr lang="en-US" sz="1200">
                <a:solidFill>
                  <a:srgbClr val="CFC6AE"/>
                </a:solidFill>
                <a:latin typeface="Public Sans"/>
                <a:ea typeface="Public Sans"/>
                <a:cs typeface="Public Sans"/>
                <a:sym typeface="Public Sans"/>
              </a:rPr>
              <a:t>13</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A16"/>
        </a:solidFill>
      </p:bgPr>
    </p:bg>
    <p:spTree>
      <p:nvGrpSpPr>
        <p:cNvPr id="226" name="Shape 226"/>
        <p:cNvGrpSpPr/>
        <p:nvPr/>
      </p:nvGrpSpPr>
      <p:grpSpPr>
        <a:xfrm>
          <a:off x="0" y="0"/>
          <a:ext cx="0" cy="0"/>
          <a:chOff x="0" y="0"/>
          <a:chExt cx="0" cy="0"/>
        </a:xfrm>
      </p:grpSpPr>
      <p:sp>
        <p:nvSpPr>
          <p:cNvPr id="227" name="Google Shape;227;h4fd6c64567bb97b5_0_15"/>
          <p:cNvSpPr txBox="1"/>
          <p:nvPr>
            <p:ph type="title"/>
          </p:nvPr>
        </p:nvSpPr>
        <p:spPr>
          <a:xfrm>
            <a:off x="1287150" y="2027550"/>
            <a:ext cx="9617700" cy="2802900"/>
          </a:xfrm>
          <a:prstGeom prst="rect">
            <a:avLst/>
          </a:prstGeom>
          <a:noFill/>
          <a:ln>
            <a:noFill/>
          </a:ln>
        </p:spPr>
        <p:txBody>
          <a:bodyPr anchorCtr="0" anchor="t" bIns="0" lIns="0" spcFirstLastPara="1" rIns="0" wrap="square" tIns="0">
            <a:noAutofit/>
          </a:bodyPr>
          <a:lstStyle/>
          <a:p>
            <a:pPr indent="0" lvl="0" marL="0" rtl="0" algn="ctr">
              <a:lnSpc>
                <a:spcPct val="110000"/>
              </a:lnSpc>
              <a:spcBef>
                <a:spcPts val="0"/>
              </a:spcBef>
              <a:spcAft>
                <a:spcPts val="0"/>
              </a:spcAft>
              <a:buClr>
                <a:srgbClr val="FAF5E8"/>
              </a:buClr>
              <a:buSzPts val="3800"/>
              <a:buFont typeface="Oswald"/>
              <a:buNone/>
            </a:pPr>
            <a:r>
              <a:rPr lang="en-US" sz="5300">
                <a:solidFill>
                  <a:srgbClr val="FAF5E8"/>
                </a:solidFill>
                <a:latin typeface="Pacifico"/>
                <a:ea typeface="Pacifico"/>
                <a:cs typeface="Pacifico"/>
                <a:sym typeface="Pacifico"/>
              </a:rPr>
              <a:t>Thank you</a:t>
            </a:r>
            <a:endParaRPr sz="5300">
              <a:solidFill>
                <a:srgbClr val="FAF5E8"/>
              </a:solidFill>
              <a:latin typeface="Pacifico"/>
              <a:ea typeface="Pacifico"/>
              <a:cs typeface="Pacifico"/>
              <a:sym typeface="Pacifico"/>
            </a:endParaRPr>
          </a:p>
          <a:p>
            <a:pPr indent="0" lvl="0" marL="0" rtl="0" algn="ctr">
              <a:lnSpc>
                <a:spcPct val="110000"/>
              </a:lnSpc>
              <a:spcBef>
                <a:spcPts val="0"/>
              </a:spcBef>
              <a:spcAft>
                <a:spcPts val="0"/>
              </a:spcAft>
              <a:buClr>
                <a:srgbClr val="FAF5E8"/>
              </a:buClr>
              <a:buSzPts val="3800"/>
              <a:buFont typeface="Oswald"/>
              <a:buNone/>
            </a:pPr>
            <a:r>
              <a:rPr lang="en-US" sz="5300">
                <a:solidFill>
                  <a:srgbClr val="FAF5E8"/>
                </a:solidFill>
                <a:latin typeface="Pacifico"/>
                <a:ea typeface="Pacifico"/>
                <a:cs typeface="Pacifico"/>
                <a:sym typeface="Pacifico"/>
              </a:rPr>
              <a:t>for</a:t>
            </a:r>
            <a:endParaRPr sz="5300">
              <a:solidFill>
                <a:srgbClr val="FAF5E8"/>
              </a:solidFill>
              <a:latin typeface="Pacifico"/>
              <a:ea typeface="Pacifico"/>
              <a:cs typeface="Pacifico"/>
              <a:sym typeface="Pacifico"/>
            </a:endParaRPr>
          </a:p>
          <a:p>
            <a:pPr indent="0" lvl="0" marL="0" rtl="0" algn="ctr">
              <a:lnSpc>
                <a:spcPct val="110000"/>
              </a:lnSpc>
              <a:spcBef>
                <a:spcPts val="0"/>
              </a:spcBef>
              <a:spcAft>
                <a:spcPts val="0"/>
              </a:spcAft>
              <a:buClr>
                <a:srgbClr val="FAF5E8"/>
              </a:buClr>
              <a:buSzPts val="3800"/>
              <a:buFont typeface="Oswald"/>
              <a:buNone/>
            </a:pPr>
            <a:r>
              <a:rPr lang="en-US" sz="5300">
                <a:solidFill>
                  <a:srgbClr val="FAF5E8"/>
                </a:solidFill>
                <a:latin typeface="Pacifico"/>
                <a:ea typeface="Pacifico"/>
                <a:cs typeface="Pacifico"/>
                <a:sym typeface="Pacifico"/>
              </a:rPr>
              <a:t>your attention</a:t>
            </a:r>
            <a:endParaRPr sz="5300">
              <a:solidFill>
                <a:srgbClr val="FAF5E8"/>
              </a:solidFill>
              <a:latin typeface="Pacifico"/>
              <a:ea typeface="Pacifico"/>
              <a:cs typeface="Pacifico"/>
              <a:sym typeface="Pacifico"/>
            </a:endParaRPr>
          </a:p>
        </p:txBody>
      </p:sp>
    </p:spTree>
  </p:cSld>
  <p:clrMapOvr>
    <a:masterClrMapping/>
  </p:clrMapOvr>
</p:sld>
</file>

<file path=ppt/theme/theme1.xml><?xml version="1.0" encoding="utf-8"?>
<a:theme xmlns:a="http://schemas.openxmlformats.org/drawingml/2006/main" xmlns:r="http://schemas.openxmlformats.org/officeDocument/2006/relationships" name="ABC Ackley Presentation">
  <a:themeElements>
    <a:clrScheme name="ABC Ackley Presentation">
      <a:dk1>
        <a:srgbClr val="1C1A16"/>
      </a:dk1>
      <a:lt1>
        <a:srgbClr val="FAF5E8"/>
      </a:lt1>
      <a:dk2>
        <a:srgbClr val="54514B"/>
      </a:dk2>
      <a:lt2>
        <a:srgbClr val="E4DFD3"/>
      </a:lt2>
      <a:accent1>
        <a:srgbClr val="8A5A00"/>
      </a:accent1>
      <a:accent2>
        <a:srgbClr val="F2B632"/>
      </a:accent2>
      <a:accent3>
        <a:srgbClr val="3D382D"/>
      </a:accent3>
      <a:accent4>
        <a:srgbClr val="5A5446"/>
      </a:accent4>
      <a:accent5>
        <a:srgbClr val="CFC6AE"/>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C Ackley Presentation">
  <a:themeElements>
    <a:clrScheme name="ABC Ackley Presentation">
      <a:dk1>
        <a:srgbClr val="1C1A16"/>
      </a:dk1>
      <a:lt1>
        <a:srgbClr val="FAF5E8"/>
      </a:lt1>
      <a:dk2>
        <a:srgbClr val="54514B"/>
      </a:dk2>
      <a:lt2>
        <a:srgbClr val="E4DFD3"/>
      </a:lt2>
      <a:accent1>
        <a:srgbClr val="8A5A00"/>
      </a:accent1>
      <a:accent2>
        <a:srgbClr val="F2B632"/>
      </a:accent2>
      <a:accent3>
        <a:srgbClr val="3D382D"/>
      </a:accent3>
      <a:accent4>
        <a:srgbClr val="5A5446"/>
      </a:accent4>
      <a:accent5>
        <a:srgbClr val="CFC6AE"/>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2026-10-03T11:47:27Z</dcterms:created>
</cp:coreProperties>
</file>